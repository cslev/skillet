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short tour of the pitch-deck skill for Claude Code. I will cover what it makes, why it exists, and how it keeps the result credible. Fittingly, this deck was made with the skill itself.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ask Claude Code for a deck, and the skill produces a PowerPoint file you can edit like any other. It covers three situations: introducing the project to people who have never seen it, reporting progress since an earlier version, and showing off a specific release. The facts come from a single project description file in your repository, plus your release notes and history when the deck is about changes.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why build this at all.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Generated slides have recognisable habits: hype words, explanations nobody actually gave, the same bullet layout on every slide, and decoration like small labels above titles or badges. Once an audience notices these, they start doubting the content as well. The skill writes down each of these habits as a rule and does the opposite.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how the skill actually gets from a request to a finished deck.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 happens in four steps. First the skill asks a few questions: which kind of deck, who it is for, how long, and which brand colours. Then it writes an outline: the one message the audience should remember, and a title for every slide. Only after you approve that outline does it build the file. Finally it checks its own work before handing it over. Diagram brief: four boxes labelled Ask, Outline, Build and Check, left to right, connected by arrows. Between Outline and Build, draw a gate marked 'your approval'. Under Check, list the three checks: automatic checker, visual review, editing pass.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ever see the deck, a small checker reads the finished file. It looks for banned hype words, dashes and emoji, titles in the wrong case, missing speaker notes, badges, shadows, page counters and repetitive layouts. Any error means the skill fixes the deck and checks again. Warnings are allowed, but the skill has to tell you why each one stands. When LibreOffice is installed, it also renders every slide to an image and looks at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title like Performance tells the audience what the slide is about, but not what to take away. The skill writes every title as a short sentence that states the point. Read the titles in order and you get the whole argument, which is also how the skill checks the outline before building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here was copied verbatim, but several ideas came from published work, and each is credited in the suite's credits file. The skill-design article by Lax Meiyappan shaped the structure: a short core file, with the what's-new branch moved into a separate file that is only read when needed. The prznt-deck skill contributed the hard visual bans and the idea of a checker that blocks delivery. The anti-ai-slop skill and two published guides, from Perceptis and Plus AI, catalogued the tells that make slides look generated. The icons come from the open-source Lucide set.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else is our own. The workflow comes from the project-docs suite, where this skill shares one project description file with the documentation, technology disclosure and disclosure deck skills. The rule set, the checker, the icon renderer and the logo colour analysis were written for this suite, and so was the brand design you see in this deck.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rule that matters most: every number and capability on a slide comes from your project description or from your answers, and the skill asks when something is missing. What you get at the end is an editable PowerPoint file with speaker notes, a brief for each diagram still to be drawn, the checker's result, and a list of anything that was missing. To start, copy the skill suite into your project's .claude/skills folder, fill in project_context.md, and ask Claude Code for a pitch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538"/>
        </a:solidFill>
        <a:effectLst/>
      </p:bgPr>
    </p:bg>
    <p:spTree>
      <p:nvGrpSpPr>
        <p:cNvPr id="1" name=""/>
        <p:cNvGrpSpPr/>
        <p:nvPr/>
      </p:nvGrpSpPr>
      <p:grpSpPr/>
      <p:sp>
        <p:nvSpPr>
          <p:cNvPr id="2" name="TextBox 1"/>
          <p:cNvSpPr txBox="1"/>
          <p:nvPr/>
        </p:nvSpPr>
        <p:spPr>
          <a:xfrm>
            <a:off x="548640" y="1920240"/>
            <a:ext cx="6949440" cy="2103120"/>
          </a:xfrm>
          <a:prstGeom prst="rect">
            <a:avLst/>
          </a:prstGeom>
          <a:noFill/>
        </p:spPr>
        <p:txBody>
          <a:bodyPr wrap="square" lIns="0" rIns="0" anchor="b">
            <a:spAutoFit/>
          </a:bodyPr>
          <a:lstStyle/>
          <a:p>
            <a:pPr>
              <a:lnSpc>
                <a:spcPct val="110000"/>
              </a:lnSpc>
              <a:spcAft>
                <a:spcPts val="0"/>
              </a:spcAft>
            </a:pPr>
            <a:r>
              <a:rPr sz="6600" b="0">
                <a:solidFill>
                  <a:srgbClr val="FFFFFF"/>
                </a:solidFill>
                <a:latin typeface="Calibri"/>
              </a:rPr>
              <a:t>Pitch-deck skill</a:t>
            </a:r>
          </a:p>
        </p:txBody>
      </p:sp>
      <p:sp>
        <p:nvSpPr>
          <p:cNvPr id="3" name="TextBox 2"/>
          <p:cNvSpPr txBox="1"/>
          <p:nvPr/>
        </p:nvSpPr>
        <p:spPr>
          <a:xfrm>
            <a:off x="548640" y="4160520"/>
            <a:ext cx="6949440" cy="914400"/>
          </a:xfrm>
          <a:prstGeom prst="rect">
            <a:avLst/>
          </a:prstGeom>
          <a:noFill/>
        </p:spPr>
        <p:txBody>
          <a:bodyPr wrap="square" lIns="0" rIns="0">
            <a:spAutoFit/>
          </a:bodyPr>
          <a:lstStyle/>
          <a:p>
            <a:pPr>
              <a:lnSpc>
                <a:spcPct val="110000"/>
              </a:lnSpc>
              <a:spcAft>
                <a:spcPts val="0"/>
              </a:spcAft>
            </a:pPr>
            <a:r>
              <a:rPr sz="2400" b="0">
                <a:solidFill>
                  <a:srgbClr val="BFD3CF"/>
                </a:solidFill>
                <a:latin typeface="Calibri"/>
              </a:rPr>
              <a:t>Project slide decks from your own facts,</a:t>
            </a:r>
          </a:p>
          <a:p>
            <a:pPr>
              <a:lnSpc>
                <a:spcPct val="110000"/>
              </a:lnSpc>
              <a:spcAft>
                <a:spcPts val="0"/>
              </a:spcAft>
            </a:pPr>
            <a:r>
              <a:rPr sz="2400" b="0">
                <a:solidFill>
                  <a:srgbClr val="BFD3CF"/>
                </a:solidFill>
                <a:latin typeface="Calibri"/>
              </a:rPr>
              <a:t>without the AI look</a:t>
            </a:r>
          </a:p>
        </p:txBody>
      </p:sp>
      <p:sp>
        <p:nvSpPr>
          <p:cNvPr id="4" name="TextBox 3"/>
          <p:cNvSpPr txBox="1"/>
          <p:nvPr/>
        </p:nvSpPr>
        <p:spPr>
          <a:xfrm>
            <a:off x="548640" y="5257800"/>
            <a:ext cx="6949440" cy="365760"/>
          </a:xfrm>
          <a:prstGeom prst="rect">
            <a:avLst/>
          </a:prstGeom>
          <a:noFill/>
        </p:spPr>
        <p:txBody>
          <a:bodyPr wrap="square" lIns="0" rIns="0">
            <a:spAutoFit/>
          </a:bodyPr>
          <a:lstStyle/>
          <a:p>
            <a:pPr>
              <a:lnSpc>
                <a:spcPct val="110000"/>
              </a:lnSpc>
              <a:spcAft>
                <a:spcPts val="1000"/>
              </a:spcAft>
            </a:pPr>
            <a:r>
              <a:rPr sz="1400" b="0">
                <a:solidFill>
                  <a:srgbClr val="BFD3CF"/>
                </a:solidFill>
                <a:latin typeface="Calibri"/>
              </a:rPr>
              <a:t>cslev, 6 October 2026</a:t>
            </a:r>
          </a:p>
        </p:txBody>
      </p:sp>
      <p:sp>
        <p:nvSpPr>
          <p:cNvPr id="5" name="Rectangle 4"/>
          <p:cNvSpPr/>
          <p:nvPr/>
        </p:nvSpPr>
        <p:spPr>
          <a:xfrm>
            <a:off x="8138160" y="0"/>
            <a:ext cx="4053535" cy="6858000"/>
          </a:xfrm>
          <a:prstGeom prst="rect">
            <a:avLst/>
          </a:prstGeom>
          <a:solidFill>
            <a:srgbClr val="FFFFFF"/>
          </a:solidFill>
          <a:ln>
            <a:noFill/>
          </a:ln>
        </p:spPr>
        <p:txBody>
          <a:bodyPr rtlCol="0" anchor="ctr"/>
          <a:lstStyle/>
          <a:p>
            <a:pPr algn="ctr"/>
          </a:p>
        </p:txBody>
      </p:sp>
      <p:pic>
        <p:nvPicPr>
          <p:cNvPr id="6" name="Picture 5" descr="favicon-192x192.png"/>
          <p:cNvPicPr>
            <a:picLocks noChangeAspect="1"/>
          </p:cNvPicPr>
          <p:nvPr/>
        </p:nvPicPr>
        <p:blipFill>
          <a:blip r:embed="rId2"/>
          <a:stretch>
            <a:fillRect/>
          </a:stretch>
        </p:blipFill>
        <p:spPr>
          <a:xfrm>
            <a:off x="8701887" y="1965960"/>
            <a:ext cx="2926080" cy="29260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p:spPr>
        <p:txBody>
          <a:bodyPr rtlCol="0" anchor="ctr"/>
          <a:lstStyle/>
          <a:p>
            <a:pPr algn="ctr"/>
          </a:p>
        </p:txBody>
      </p:sp>
      <p:sp>
        <p:nvSpPr>
          <p:cNvPr id="4" name="TextBox 3"/>
          <p:cNvSpPr txBox="1"/>
          <p:nvPr/>
        </p:nvSpPr>
        <p:spPr>
          <a:xfrm>
            <a:off x="548640" y="182880"/>
            <a:ext cx="11064240" cy="868680"/>
          </a:xfrm>
          <a:prstGeom prst="rect">
            <a:avLst/>
          </a:prstGeom>
          <a:noFill/>
        </p:spPr>
        <p:txBody>
          <a:bodyPr wrap="square" lIns="0" rIns="0" anchor="ctr">
            <a:spAutoFit/>
          </a:bodyPr>
          <a:lstStyle/>
          <a:p>
            <a:pPr>
              <a:lnSpc>
                <a:spcPct val="110000"/>
              </a:lnSpc>
              <a:spcAft>
                <a:spcPts val="1000"/>
              </a:spcAft>
            </a:pPr>
            <a:r>
              <a:rPr sz="2800" b="0">
                <a:solidFill>
                  <a:srgbClr val="FFFFFF"/>
                </a:solidFill>
                <a:latin typeface="Calibri"/>
              </a:rPr>
              <a:t>It builds an editable PowerPoint deck from your project's own facts</a:t>
            </a:r>
          </a:p>
        </p:txBody>
      </p:sp>
      <p:pic>
        <p:nvPicPr>
          <p:cNvPr id="5" name="Picture 4" descr="favicon-192x192.png"/>
          <p:cNvPicPr>
            <a:picLocks noChangeAspect="1"/>
          </p:cNvPicPr>
          <p:nvPr/>
        </p:nvPicPr>
        <p:blipFill>
          <a:blip r:embed="rId2"/>
          <a:stretch>
            <a:fillRect/>
          </a:stretch>
        </p:blipFill>
        <p:spPr>
          <a:xfrm>
            <a:off x="548640" y="6515100"/>
            <a:ext cx="274320" cy="274320"/>
          </a:xfrm>
          <a:prstGeom prst="rect">
            <a:avLst/>
          </a:prstGeom>
        </p:spPr>
      </p:pic>
      <p:sp>
        <p:nvSpPr>
          <p:cNvPr id="6" name="TextBox 5"/>
          <p:cNvSpPr txBox="1"/>
          <p:nvPr/>
        </p:nvSpPr>
        <p:spPr>
          <a:xfrm>
            <a:off x="10728655" y="6510528"/>
            <a:ext cx="914400" cy="274320"/>
          </a:xfrm>
          <a:prstGeom prst="rect">
            <a:avLst/>
          </a:prstGeom>
          <a:noFill/>
        </p:spPr>
        <p:txBody>
          <a:bodyPr wrap="square" lIns="0" rIns="0">
            <a:spAutoFit/>
          </a:bodyPr>
          <a:lstStyle/>
          <a:p>
            <a:pPr algn="r">
              <a:lnSpc>
                <a:spcPct val="110000"/>
              </a:lnSpc>
              <a:spcAft>
                <a:spcPts val="1000"/>
              </a:spcAft>
            </a:pPr>
            <a:r>
              <a:rPr sz="1100" b="0">
                <a:solidFill>
                  <a:srgbClr val="57606A"/>
                </a:solidFill>
                <a:latin typeface="Calibri"/>
              </a:rPr>
              <a:t>2</a:t>
            </a:r>
          </a:p>
        </p:txBody>
      </p:sp>
      <p:graphicFrame>
        <p:nvGraphicFramePr>
          <p:cNvPr id="7" name="Table 6"/>
          <p:cNvGraphicFramePr>
            <a:graphicFrameLocks noGrp="1"/>
          </p:cNvGraphicFramePr>
          <p:nvPr/>
        </p:nvGraphicFramePr>
        <p:xfrm>
          <a:off x="548640" y="1691640"/>
          <a:ext cx="11094415" cy="3108960"/>
        </p:xfrm>
        <a:graphic>
          <a:graphicData uri="http://schemas.openxmlformats.org/drawingml/2006/table">
            <a:tbl>
              <a:tblPr firstRow="0" bandRow="0">
                <a:tableStyleId>{2D5ABB26-0587-4C30-8999-92F81FD0307C}</a:tableStyleId>
              </a:tblPr>
              <a:tblGrid>
                <a:gridCol w="2194560"/>
                <a:gridCol w="4480560"/>
                <a:gridCol w="4419295"/>
              </a:tblGrid>
              <a:tr h="777240">
                <a:tc>
                  <a:txBody>
                    <a:bodyPr/>
                    <a:lstStyle/>
                    <a:p>
                      <a:r>
                        <a:rPr sz="2000" b="0">
                          <a:solidFill>
                            <a:srgbClr val="173538"/>
                          </a:solidFill>
                          <a:latin typeface="Calibri"/>
                        </a:rPr>
                        <a:t>Deck type</a:t>
                      </a:r>
                    </a:p>
                  </a:txBody>
                  <a:tcPr anchor="ctr" marL="0" marR="137160">
                    <a:noFill/>
                    <a:lnB w="25400">
                      <a:solidFill>
                        <a:srgbClr val="173538"/>
                      </a:solidFill>
                    </a:lnB>
                  </a:tcPr>
                </a:tc>
                <a:tc>
                  <a:txBody>
                    <a:bodyPr/>
                    <a:lstStyle/>
                    <a:p>
                      <a:r>
                        <a:rPr sz="2000" b="0">
                          <a:solidFill>
                            <a:srgbClr val="173538"/>
                          </a:solidFill>
                          <a:latin typeface="Calibri"/>
                        </a:rPr>
                        <a:t>For</a:t>
                      </a:r>
                    </a:p>
                  </a:txBody>
                  <a:tcPr anchor="ctr" marL="0" marR="137160">
                    <a:noFill/>
                    <a:lnB w="25400">
                      <a:solidFill>
                        <a:srgbClr val="173538"/>
                      </a:solidFill>
                    </a:lnB>
                  </a:tcPr>
                </a:tc>
                <a:tc>
                  <a:txBody>
                    <a:bodyPr/>
                    <a:lstStyle/>
                    <a:p>
                      <a:r>
                        <a:rPr sz="2000" b="0">
                          <a:solidFill>
                            <a:srgbClr val="173538"/>
                          </a:solidFill>
                          <a:latin typeface="Calibri"/>
                        </a:rPr>
                        <a:t>Facts come from</a:t>
                      </a:r>
                    </a:p>
                  </a:txBody>
                  <a:tcPr anchor="ctr" marL="0" marR="137160">
                    <a:noFill/>
                    <a:lnB w="25400">
                      <a:solidFill>
                        <a:srgbClr val="173538"/>
                      </a:solidFill>
                    </a:lnB>
                  </a:tcPr>
                </a:tc>
              </a:tr>
              <a:tr h="777240">
                <a:tc>
                  <a:txBody>
                    <a:bodyPr/>
                    <a:lstStyle/>
                    <a:p>
                      <a:r>
                        <a:rPr sz="2000" b="0">
                          <a:solidFill>
                            <a:srgbClr val="1F2328"/>
                          </a:solidFill>
                          <a:latin typeface="Calibri"/>
                        </a:rPr>
                        <a:t>Introduction</a:t>
                      </a:r>
                    </a:p>
                  </a:txBody>
                  <a:tcPr anchor="ctr" marL="0" marR="137160">
                    <a:noFill/>
                    <a:lnB w="9525">
                      <a:solidFill>
                        <a:srgbClr val="D0D7DE"/>
                      </a:solidFill>
                    </a:lnB>
                  </a:tcPr>
                </a:tc>
                <a:tc>
                  <a:txBody>
                    <a:bodyPr/>
                    <a:lstStyle/>
                    <a:p>
                      <a:r>
                        <a:rPr sz="2000" b="0">
                          <a:solidFill>
                            <a:srgbClr val="1F2328"/>
                          </a:solidFill>
                          <a:latin typeface="Calibri"/>
                        </a:rPr>
                        <a:t>An audience new to the project</a:t>
                      </a:r>
                    </a:p>
                  </a:txBody>
                  <a:tcPr anchor="ctr" marL="0" marR="137160">
                    <a:noFill/>
                    <a:lnB w="9525">
                      <a:solidFill>
                        <a:srgbClr val="D0D7DE"/>
                      </a:solidFill>
                    </a:lnB>
                  </a:tcPr>
                </a:tc>
                <a:tc>
                  <a:txBody>
                    <a:bodyPr/>
                    <a:lstStyle/>
                    <a:p>
                      <a:r>
                        <a:rPr sz="2000" b="0">
                          <a:solidFill>
                            <a:srgbClr val="1F2328"/>
                          </a:solidFill>
                          <a:latin typeface="Calibri"/>
                        </a:rPr>
                        <a:t>The project description file</a:t>
                      </a:r>
                    </a:p>
                  </a:txBody>
                  <a:tcPr anchor="ctr" marL="0" marR="137160">
                    <a:noFill/>
                    <a:lnB w="9525">
                      <a:solidFill>
                        <a:srgbClr val="D0D7DE"/>
                      </a:solidFill>
                    </a:lnB>
                  </a:tcPr>
                </a:tc>
              </a:tr>
              <a:tr h="777240">
                <a:tc>
                  <a:txBody>
                    <a:bodyPr/>
                    <a:lstStyle/>
                    <a:p>
                      <a:r>
                        <a:rPr sz="2000" b="0">
                          <a:solidFill>
                            <a:srgbClr val="1F2328"/>
                          </a:solidFill>
                          <a:latin typeface="Calibri"/>
                        </a:rPr>
                        <a:t>Status update</a:t>
                      </a:r>
                    </a:p>
                  </a:txBody>
                  <a:tcPr anchor="ctr" marL="0" marR="137160">
                    <a:noFill/>
                    <a:lnB w="9525">
                      <a:solidFill>
                        <a:srgbClr val="D0D7DE"/>
                      </a:solidFill>
                    </a:lnB>
                  </a:tcPr>
                </a:tc>
                <a:tc>
                  <a:txBody>
                    <a:bodyPr/>
                    <a:lstStyle/>
                    <a:p>
                      <a:r>
                        <a:rPr sz="2000" b="0">
                          <a:solidFill>
                            <a:srgbClr val="1F2328"/>
                          </a:solidFill>
                          <a:latin typeface="Calibri"/>
                        </a:rPr>
                        <a:t>Progress since an earlier version</a:t>
                      </a:r>
                    </a:p>
                  </a:txBody>
                  <a:tcPr anchor="ctr" marL="0" marR="137160">
                    <a:noFill/>
                    <a:lnB w="9525">
                      <a:solidFill>
                        <a:srgbClr val="D0D7DE"/>
                      </a:solidFill>
                    </a:lnB>
                  </a:tcPr>
                </a:tc>
                <a:tc>
                  <a:txBody>
                    <a:bodyPr/>
                    <a:lstStyle/>
                    <a:p>
                      <a:r>
                        <a:rPr sz="2000" b="0">
                          <a:solidFill>
                            <a:srgbClr val="1F2328"/>
                          </a:solidFill>
                          <a:latin typeface="Calibri"/>
                        </a:rPr>
                        <a:t>Changelog, git history, code</a:t>
                      </a:r>
                    </a:p>
                  </a:txBody>
                  <a:tcPr anchor="ctr" marL="0" marR="137160">
                    <a:noFill/>
                    <a:lnB w="9525">
                      <a:solidFill>
                        <a:srgbClr val="D0D7DE"/>
                      </a:solidFill>
                    </a:lnB>
                  </a:tcPr>
                </a:tc>
              </a:tr>
              <a:tr h="777240">
                <a:tc>
                  <a:txBody>
                    <a:bodyPr/>
                    <a:lstStyle/>
                    <a:p>
                      <a:r>
                        <a:rPr sz="2000" b="0">
                          <a:solidFill>
                            <a:srgbClr val="1F2328"/>
                          </a:solidFill>
                          <a:latin typeface="Calibri"/>
                        </a:rPr>
                        <a:t>Release showcase</a:t>
                      </a:r>
                    </a:p>
                  </a:txBody>
                  <a:tcPr anchor="ctr" marL="0" marR="137160">
                    <a:noFill/>
                    <a:lnB w="9525">
                      <a:solidFill>
                        <a:srgbClr val="D0D7DE"/>
                      </a:solidFill>
                    </a:lnB>
                  </a:tcPr>
                </a:tc>
                <a:tc>
                  <a:txBody>
                    <a:bodyPr/>
                    <a:lstStyle/>
                    <a:p>
                      <a:r>
                        <a:rPr sz="2000" b="0">
                          <a:solidFill>
                            <a:srgbClr val="1F2328"/>
                          </a:solidFill>
                          <a:latin typeface="Calibri"/>
                        </a:rPr>
                        <a:t>What is new in a specific release</a:t>
                      </a:r>
                    </a:p>
                  </a:txBody>
                  <a:tcPr anchor="ctr" marL="0" marR="137160">
                    <a:noFill/>
                    <a:lnB w="9525">
                      <a:solidFill>
                        <a:srgbClr val="D0D7DE"/>
                      </a:solidFill>
                    </a:lnB>
                  </a:tcPr>
                </a:tc>
                <a:tc>
                  <a:txBody>
                    <a:bodyPr/>
                    <a:lstStyle/>
                    <a:p>
                      <a:r>
                        <a:rPr sz="2000" b="0">
                          <a:solidFill>
                            <a:srgbClr val="1F2328"/>
                          </a:solidFill>
                          <a:latin typeface="Calibri"/>
                        </a:rPr>
                        <a:t>Release guides, or changelog and git</a:t>
                      </a:r>
                    </a:p>
                  </a:txBody>
                  <a:tcPr anchor="ctr" marL="0" marR="137160">
                    <a:noFill/>
                    <a:lnB w="9525">
                      <a:solidFill>
                        <a:srgbClr val="D0D7DE"/>
                      </a:solidFill>
                    </a:lnB>
                  </a:tcPr>
                </a:tc>
              </a:tr>
            </a:tbl>
          </a:graphicData>
        </a:graphic>
      </p:graphicFrame>
      <p:sp>
        <p:nvSpPr>
          <p:cNvPr id="8" name="TextBox 7"/>
          <p:cNvSpPr txBox="1"/>
          <p:nvPr/>
        </p:nvSpPr>
        <p:spPr>
          <a:xfrm>
            <a:off x="548640" y="5120640"/>
            <a:ext cx="11094415" cy="320040"/>
          </a:xfrm>
          <a:prstGeom prst="rect">
            <a:avLst/>
          </a:prstGeom>
          <a:noFill/>
        </p:spPr>
        <p:txBody>
          <a:bodyPr wrap="square" lIns="0" rIns="0">
            <a:spAutoFit/>
          </a:bodyPr>
          <a:lstStyle/>
          <a:p>
            <a:pPr>
              <a:lnSpc>
                <a:spcPct val="110000"/>
              </a:lnSpc>
              <a:spcAft>
                <a:spcPts val="1000"/>
              </a:spcAft>
            </a:pPr>
            <a:r>
              <a:rPr sz="1200" b="0">
                <a:solidFill>
                  <a:srgbClr val="57606A"/>
                </a:solidFill>
                <a:latin typeface="Calibri"/>
              </a:rPr>
              <a:t>Source: pitch-deck SKILL.md and whats-new.md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538"/>
        </a:solidFill>
        <a:effectLst/>
      </p:bgPr>
    </p:bg>
    <p:spTree>
      <p:nvGrpSpPr>
        <p:cNvPr id="1" name=""/>
        <p:cNvGrpSpPr/>
        <p:nvPr/>
      </p:nvGrpSpPr>
      <p:grpSpPr/>
      <p:sp>
        <p:nvSpPr>
          <p:cNvPr id="2" name="TextBox 1"/>
          <p:cNvSpPr txBox="1"/>
          <p:nvPr/>
        </p:nvSpPr>
        <p:spPr>
          <a:xfrm>
            <a:off x="548640" y="1920240"/>
            <a:ext cx="7680960" cy="2103120"/>
          </a:xfrm>
          <a:prstGeom prst="rect">
            <a:avLst/>
          </a:prstGeom>
          <a:noFill/>
        </p:spPr>
        <p:txBody>
          <a:bodyPr wrap="square" lIns="0" rIns="0" anchor="b">
            <a:spAutoFit/>
          </a:bodyPr>
          <a:lstStyle/>
          <a:p>
            <a:pPr>
              <a:lnSpc>
                <a:spcPct val="110000"/>
              </a:lnSpc>
              <a:spcAft>
                <a:spcPts val="0"/>
              </a:spcAft>
            </a:pPr>
            <a:r>
              <a:rPr sz="5800" b="0">
                <a:solidFill>
                  <a:srgbClr val="FFFFFF"/>
                </a:solidFill>
                <a:latin typeface="Calibri"/>
              </a:rPr>
              <a:t>Why it exists</a:t>
            </a:r>
          </a:p>
        </p:txBody>
      </p:sp>
      <p:sp>
        <p:nvSpPr>
          <p:cNvPr id="3" name="TextBox 2"/>
          <p:cNvSpPr txBox="1"/>
          <p:nvPr/>
        </p:nvSpPr>
        <p:spPr>
          <a:xfrm>
            <a:off x="548640" y="4160520"/>
            <a:ext cx="7680960" cy="914400"/>
          </a:xfrm>
          <a:prstGeom prst="rect">
            <a:avLst/>
          </a:prstGeom>
          <a:noFill/>
        </p:spPr>
        <p:txBody>
          <a:bodyPr wrap="square" lIns="0" rIns="0">
            <a:spAutoFit/>
          </a:bodyPr>
          <a:lstStyle/>
          <a:p>
            <a:pPr>
              <a:lnSpc>
                <a:spcPct val="110000"/>
              </a:lnSpc>
              <a:spcAft>
                <a:spcPts val="0"/>
              </a:spcAft>
            </a:pPr>
            <a:r>
              <a:rPr sz="2400" b="0">
                <a:solidFill>
                  <a:srgbClr val="BFD3CF"/>
                </a:solidFill>
                <a:latin typeface="Calibri"/>
              </a:rPr>
              <a:t>Audiences spot AI-made slides on sight</a:t>
            </a:r>
          </a:p>
        </p:txBody>
      </p:sp>
      <p:pic>
        <p:nvPicPr>
          <p:cNvPr id="4" name="Picture 3" descr="eye.png"/>
          <p:cNvPicPr>
            <a:picLocks noChangeAspect="1"/>
          </p:cNvPicPr>
          <p:nvPr/>
        </p:nvPicPr>
        <p:blipFill>
          <a:blip r:embed="rId2"/>
          <a:stretch>
            <a:fillRect/>
          </a:stretch>
        </p:blipFill>
        <p:spPr>
          <a:xfrm>
            <a:off x="8442655" y="2346243"/>
            <a:ext cx="3017520" cy="216551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p:spPr>
        <p:txBody>
          <a:bodyPr rtlCol="0" anchor="ctr"/>
          <a:lstStyle/>
          <a:p>
            <a:pPr algn="ctr"/>
          </a:p>
        </p:txBody>
      </p:sp>
      <p:sp>
        <p:nvSpPr>
          <p:cNvPr id="4" name="TextBox 3"/>
          <p:cNvSpPr txBox="1"/>
          <p:nvPr/>
        </p:nvSpPr>
        <p:spPr>
          <a:xfrm>
            <a:off x="548640" y="182880"/>
            <a:ext cx="11064240" cy="868680"/>
          </a:xfrm>
          <a:prstGeom prst="rect">
            <a:avLst/>
          </a:prstGeom>
          <a:noFill/>
        </p:spPr>
        <p:txBody>
          <a:bodyPr wrap="square" lIns="0" rIns="0" anchor="ctr">
            <a:spAutoFit/>
          </a:bodyPr>
          <a:lstStyle/>
          <a:p>
            <a:pPr>
              <a:lnSpc>
                <a:spcPct val="110000"/>
              </a:lnSpc>
              <a:spcAft>
                <a:spcPts val="1000"/>
              </a:spcAft>
            </a:pPr>
            <a:r>
              <a:rPr sz="2800" b="0">
                <a:solidFill>
                  <a:srgbClr val="FFFFFF"/>
                </a:solidFill>
                <a:latin typeface="Calibri"/>
              </a:rPr>
              <a:t>Once an audience spots AI-made slides, it stops trusting them</a:t>
            </a:r>
          </a:p>
        </p:txBody>
      </p:sp>
      <p:pic>
        <p:nvPicPr>
          <p:cNvPr id="5" name="Picture 4" descr="favicon-192x192.png"/>
          <p:cNvPicPr>
            <a:picLocks noChangeAspect="1"/>
          </p:cNvPicPr>
          <p:nvPr/>
        </p:nvPicPr>
        <p:blipFill>
          <a:blip r:embed="rId2"/>
          <a:stretch>
            <a:fillRect/>
          </a:stretch>
        </p:blipFill>
        <p:spPr>
          <a:xfrm>
            <a:off x="548640" y="6515100"/>
            <a:ext cx="274320" cy="274320"/>
          </a:xfrm>
          <a:prstGeom prst="rect">
            <a:avLst/>
          </a:prstGeom>
        </p:spPr>
      </p:pic>
      <p:sp>
        <p:nvSpPr>
          <p:cNvPr id="6" name="TextBox 5"/>
          <p:cNvSpPr txBox="1"/>
          <p:nvPr/>
        </p:nvSpPr>
        <p:spPr>
          <a:xfrm>
            <a:off x="10728655" y="6510528"/>
            <a:ext cx="914400" cy="274320"/>
          </a:xfrm>
          <a:prstGeom prst="rect">
            <a:avLst/>
          </a:prstGeom>
          <a:noFill/>
        </p:spPr>
        <p:txBody>
          <a:bodyPr wrap="square" lIns="0" rIns="0">
            <a:spAutoFit/>
          </a:bodyPr>
          <a:lstStyle/>
          <a:p>
            <a:pPr algn="r">
              <a:lnSpc>
                <a:spcPct val="110000"/>
              </a:lnSpc>
              <a:spcAft>
                <a:spcPts val="1000"/>
              </a:spcAft>
            </a:pPr>
            <a:r>
              <a:rPr sz="1100" b="0">
                <a:solidFill>
                  <a:srgbClr val="57606A"/>
                </a:solidFill>
                <a:latin typeface="Calibri"/>
              </a:rPr>
              <a:t>4</a:t>
            </a:r>
          </a:p>
        </p:txBody>
      </p:sp>
      <p:graphicFrame>
        <p:nvGraphicFramePr>
          <p:cNvPr id="7" name="Table 6"/>
          <p:cNvGraphicFramePr>
            <a:graphicFrameLocks noGrp="1"/>
          </p:cNvGraphicFramePr>
          <p:nvPr/>
        </p:nvGraphicFramePr>
        <p:xfrm>
          <a:off x="548640" y="1691640"/>
          <a:ext cx="11094415" cy="3200400"/>
        </p:xfrm>
        <a:graphic>
          <a:graphicData uri="http://schemas.openxmlformats.org/drawingml/2006/table">
            <a:tbl>
              <a:tblPr firstRow="0" bandRow="0">
                <a:tableStyleId>{2D5ABB26-0587-4C30-8999-92F81FD0307C}</a:tableStyleId>
              </a:tblPr>
              <a:tblGrid>
                <a:gridCol w="5120640"/>
                <a:gridCol w="5973775"/>
              </a:tblGrid>
              <a:tr h="640080">
                <a:tc>
                  <a:txBody>
                    <a:bodyPr/>
                    <a:lstStyle/>
                    <a:p>
                      <a:r>
                        <a:rPr sz="2000" b="0">
                          <a:solidFill>
                            <a:srgbClr val="173538"/>
                          </a:solidFill>
                          <a:latin typeface="Calibri"/>
                        </a:rPr>
                        <a:t>AI tell</a:t>
                      </a:r>
                    </a:p>
                  </a:txBody>
                  <a:tcPr anchor="ctr" marL="0" marR="137160">
                    <a:noFill/>
                    <a:lnB w="25400">
                      <a:solidFill>
                        <a:srgbClr val="173538"/>
                      </a:solidFill>
                    </a:lnB>
                  </a:tcPr>
                </a:tc>
                <a:tc>
                  <a:txBody>
                    <a:bodyPr/>
                    <a:lstStyle/>
                    <a:p>
                      <a:r>
                        <a:rPr sz="2000" b="0">
                          <a:solidFill>
                            <a:srgbClr val="173538"/>
                          </a:solidFill>
                          <a:latin typeface="Calibri"/>
                        </a:rPr>
                        <a:t>What the skill does instead</a:t>
                      </a:r>
                    </a:p>
                  </a:txBody>
                  <a:tcPr anchor="ctr" marL="0" marR="137160">
                    <a:noFill/>
                    <a:lnB w="25400">
                      <a:solidFill>
                        <a:srgbClr val="173538"/>
                      </a:solidFill>
                    </a:lnB>
                  </a:tcPr>
                </a:tc>
              </a:tr>
              <a:tr h="640080">
                <a:tc>
                  <a:txBody>
                    <a:bodyPr/>
                    <a:lstStyle/>
                    <a:p>
                      <a:r>
                        <a:rPr sz="2000" b="0">
                          <a:solidFill>
                            <a:srgbClr val="1F2328"/>
                          </a:solidFill>
                          <a:latin typeface="Calibri"/>
                        </a:rPr>
                        <a:t>Hype words</a:t>
                      </a:r>
                    </a:p>
                  </a:txBody>
                  <a:tcPr anchor="ctr" marL="0" marR="137160">
                    <a:noFill/>
                    <a:lnB w="9525">
                      <a:solidFill>
                        <a:srgbClr val="D0D7DE"/>
                      </a:solidFill>
                    </a:lnB>
                  </a:tcPr>
                </a:tc>
                <a:tc>
                  <a:txBody>
                    <a:bodyPr/>
                    <a:lstStyle/>
                    <a:p>
                      <a:r>
                        <a:rPr sz="2000" b="0">
                          <a:solidFill>
                            <a:srgbClr val="1F2328"/>
                          </a:solidFill>
                          <a:latin typeface="Calibri"/>
                        </a:rPr>
                        <a:t>Plain claims, with the number</a:t>
                      </a:r>
                    </a:p>
                  </a:txBody>
                  <a:tcPr anchor="ctr" marL="0" marR="137160">
                    <a:noFill/>
                    <a:lnB w="9525">
                      <a:solidFill>
                        <a:srgbClr val="D0D7DE"/>
                      </a:solidFill>
                    </a:lnB>
                  </a:tcPr>
                </a:tc>
              </a:tr>
              <a:tr h="640080">
                <a:tc>
                  <a:txBody>
                    <a:bodyPr/>
                    <a:lstStyle/>
                    <a:p>
                      <a:r>
                        <a:rPr sz="2000" b="0">
                          <a:solidFill>
                            <a:srgbClr val="1F2328"/>
                          </a:solidFill>
                          <a:latin typeface="Calibri"/>
                        </a:rPr>
                        <a:t>Explanations the source never gave</a:t>
                      </a:r>
                    </a:p>
                  </a:txBody>
                  <a:tcPr anchor="ctr" marL="0" marR="137160">
                    <a:noFill/>
                    <a:lnB w="9525">
                      <a:solidFill>
                        <a:srgbClr val="D0D7DE"/>
                      </a:solidFill>
                    </a:lnB>
                  </a:tcPr>
                </a:tc>
                <a:tc>
                  <a:txBody>
                    <a:bodyPr/>
                    <a:lstStyle/>
                    <a:p>
                      <a:r>
                        <a:rPr sz="2000" b="0">
                          <a:solidFill>
                            <a:srgbClr val="1F2328"/>
                          </a:solidFill>
                          <a:latin typeface="Calibri"/>
                        </a:rPr>
                        <a:t>Only claims from your project's facts</a:t>
                      </a:r>
                    </a:p>
                  </a:txBody>
                  <a:tcPr anchor="ctr" marL="0" marR="137160">
                    <a:noFill/>
                    <a:lnB w="9525">
                      <a:solidFill>
                        <a:srgbClr val="D0D7DE"/>
                      </a:solidFill>
                    </a:lnB>
                  </a:tcPr>
                </a:tc>
              </a:tr>
              <a:tr h="640080">
                <a:tc>
                  <a:txBody>
                    <a:bodyPr/>
                    <a:lstStyle/>
                    <a:p>
                      <a:r>
                        <a:rPr sz="2000" b="0">
                          <a:solidFill>
                            <a:srgbClr val="1F2328"/>
                          </a:solidFill>
                          <a:latin typeface="Calibri"/>
                        </a:rPr>
                        <a:t>The same bullet slide, again and again</a:t>
                      </a:r>
                    </a:p>
                  </a:txBody>
                  <a:tcPr anchor="ctr" marL="0" marR="137160">
                    <a:noFill/>
                    <a:lnB w="9525">
                      <a:solidFill>
                        <a:srgbClr val="D0D7DE"/>
                      </a:solidFill>
                    </a:lnB>
                  </a:tcPr>
                </a:tc>
                <a:tc>
                  <a:txBody>
                    <a:bodyPr/>
                    <a:lstStyle/>
                    <a:p>
                      <a:r>
                        <a:rPr sz="2000" b="0">
                          <a:solidFill>
                            <a:srgbClr val="1F2328"/>
                          </a:solidFill>
                          <a:latin typeface="Calibri"/>
                        </a:rPr>
                        <a:t>A layout chosen per slide</a:t>
                      </a:r>
                    </a:p>
                  </a:txBody>
                  <a:tcPr anchor="ctr" marL="0" marR="137160">
                    <a:noFill/>
                    <a:lnB w="9525">
                      <a:solidFill>
                        <a:srgbClr val="D0D7DE"/>
                      </a:solidFill>
                    </a:lnB>
                  </a:tcPr>
                </a:tc>
              </a:tr>
              <a:tr h="640080">
                <a:tc>
                  <a:txBody>
                    <a:bodyPr/>
                    <a:lstStyle/>
                    <a:p>
                      <a:r>
                        <a:rPr sz="2000" b="0">
                          <a:solidFill>
                            <a:srgbClr val="1F2328"/>
                          </a:solidFill>
                          <a:latin typeface="Calibri"/>
                        </a:rPr>
                        <a:t>Labels above titles, badges, shadows</a:t>
                      </a:r>
                    </a:p>
                  </a:txBody>
                  <a:tcPr anchor="ctr" marL="0" marR="137160">
                    <a:noFill/>
                    <a:lnB w="9525">
                      <a:solidFill>
                        <a:srgbClr val="D0D7DE"/>
                      </a:solidFill>
                    </a:lnB>
                  </a:tcPr>
                </a:tc>
                <a:tc>
                  <a:txBody>
                    <a:bodyPr/>
                    <a:lstStyle/>
                    <a:p>
                      <a:r>
                        <a:rPr sz="2000" b="0">
                          <a:solidFill>
                            <a:srgbClr val="1F2328"/>
                          </a:solidFill>
                          <a:latin typeface="Calibri"/>
                        </a:rPr>
                        <a:t>A consistent brand frame, or your own template</a:t>
                      </a:r>
                    </a:p>
                  </a:txBody>
                  <a:tcPr anchor="ctr" marL="0" marR="137160">
                    <a:noFill/>
                    <a:lnB w="9525">
                      <a:solidFill>
                        <a:srgbClr val="D0D7DE"/>
                      </a:solidFill>
                    </a:lnB>
                  </a:tcPr>
                </a:tc>
              </a:tr>
            </a:tbl>
          </a:graphicData>
        </a:graphic>
      </p:graphicFrame>
      <p:sp>
        <p:nvSpPr>
          <p:cNvPr id="8" name="TextBox 7"/>
          <p:cNvSpPr txBox="1"/>
          <p:nvPr/>
        </p:nvSpPr>
        <p:spPr>
          <a:xfrm>
            <a:off x="548640" y="5120640"/>
            <a:ext cx="11094415" cy="320040"/>
          </a:xfrm>
          <a:prstGeom prst="rect">
            <a:avLst/>
          </a:prstGeom>
          <a:noFill/>
        </p:spPr>
        <p:txBody>
          <a:bodyPr wrap="square" lIns="0" rIns="0">
            <a:spAutoFit/>
          </a:bodyPr>
          <a:lstStyle/>
          <a:p>
            <a:pPr>
              <a:lnSpc>
                <a:spcPct val="110000"/>
              </a:lnSpc>
              <a:spcAft>
                <a:spcPts val="1000"/>
              </a:spcAft>
            </a:pPr>
            <a:r>
              <a:rPr sz="1200" b="0">
                <a:solidFill>
                  <a:srgbClr val="57606A"/>
                </a:solidFill>
                <a:latin typeface="Calibri"/>
              </a:rPr>
              <a:t>Source: deck-style.md, from published guides on AI-made slides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538"/>
        </a:solidFill>
        <a:effectLst/>
      </p:bgPr>
    </p:bg>
    <p:spTree>
      <p:nvGrpSpPr>
        <p:cNvPr id="1" name=""/>
        <p:cNvGrpSpPr/>
        <p:nvPr/>
      </p:nvGrpSpPr>
      <p:grpSpPr/>
      <p:sp>
        <p:nvSpPr>
          <p:cNvPr id="2" name="TextBox 1"/>
          <p:cNvSpPr txBox="1"/>
          <p:nvPr/>
        </p:nvSpPr>
        <p:spPr>
          <a:xfrm>
            <a:off x="548640" y="1920240"/>
            <a:ext cx="7680960" cy="2103120"/>
          </a:xfrm>
          <a:prstGeom prst="rect">
            <a:avLst/>
          </a:prstGeom>
          <a:noFill/>
        </p:spPr>
        <p:txBody>
          <a:bodyPr wrap="square" lIns="0" rIns="0" anchor="b">
            <a:spAutoFit/>
          </a:bodyPr>
          <a:lstStyle/>
          <a:p>
            <a:pPr>
              <a:lnSpc>
                <a:spcPct val="110000"/>
              </a:lnSpc>
              <a:spcAft>
                <a:spcPts val="0"/>
              </a:spcAft>
            </a:pPr>
            <a:r>
              <a:rPr sz="5800" b="0">
                <a:solidFill>
                  <a:srgbClr val="FFFFFF"/>
                </a:solidFill>
                <a:latin typeface="Calibri"/>
              </a:rPr>
              <a:t>How it works</a:t>
            </a:r>
          </a:p>
        </p:txBody>
      </p:sp>
      <p:sp>
        <p:nvSpPr>
          <p:cNvPr id="3" name="TextBox 2"/>
          <p:cNvSpPr txBox="1"/>
          <p:nvPr/>
        </p:nvSpPr>
        <p:spPr>
          <a:xfrm>
            <a:off x="548640" y="4160520"/>
            <a:ext cx="7680960" cy="914400"/>
          </a:xfrm>
          <a:prstGeom prst="rect">
            <a:avLst/>
          </a:prstGeom>
          <a:noFill/>
        </p:spPr>
        <p:txBody>
          <a:bodyPr wrap="square" lIns="0" rIns="0">
            <a:spAutoFit/>
          </a:bodyPr>
          <a:lstStyle/>
          <a:p>
            <a:pPr>
              <a:lnSpc>
                <a:spcPct val="110000"/>
              </a:lnSpc>
              <a:spcAft>
                <a:spcPts val="0"/>
              </a:spcAft>
            </a:pPr>
            <a:r>
              <a:rPr sz="2400" b="0">
                <a:solidFill>
                  <a:srgbClr val="BFD3CF"/>
                </a:solidFill>
                <a:latin typeface="Calibri"/>
              </a:rPr>
              <a:t>Four steps, one approval gate, one automatic check</a:t>
            </a:r>
          </a:p>
        </p:txBody>
      </p:sp>
      <p:pic>
        <p:nvPicPr>
          <p:cNvPr id="4" name="Picture 3" descr="workflow.png"/>
          <p:cNvPicPr>
            <a:picLocks noChangeAspect="1"/>
          </p:cNvPicPr>
          <p:nvPr/>
        </p:nvPicPr>
        <p:blipFill>
          <a:blip r:embed="rId2"/>
          <a:stretch>
            <a:fillRect/>
          </a:stretch>
        </p:blipFill>
        <p:spPr>
          <a:xfrm>
            <a:off x="8442655" y="1922197"/>
            <a:ext cx="3017520" cy="301360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p:spPr>
        <p:txBody>
          <a:bodyPr rtlCol="0" anchor="ctr"/>
          <a:lstStyle/>
          <a:p>
            <a:pPr algn="ctr"/>
          </a:p>
        </p:txBody>
      </p:sp>
      <p:sp>
        <p:nvSpPr>
          <p:cNvPr id="4" name="TextBox 3"/>
          <p:cNvSpPr txBox="1"/>
          <p:nvPr/>
        </p:nvSpPr>
        <p:spPr>
          <a:xfrm>
            <a:off x="548640" y="182880"/>
            <a:ext cx="11064240" cy="868680"/>
          </a:xfrm>
          <a:prstGeom prst="rect">
            <a:avLst/>
          </a:prstGeom>
          <a:noFill/>
        </p:spPr>
        <p:txBody>
          <a:bodyPr wrap="square" lIns="0" rIns="0" anchor="ctr">
            <a:spAutoFit/>
          </a:bodyPr>
          <a:lstStyle/>
          <a:p>
            <a:pPr>
              <a:lnSpc>
                <a:spcPct val="110000"/>
              </a:lnSpc>
              <a:spcAft>
                <a:spcPts val="1000"/>
              </a:spcAft>
            </a:pPr>
            <a:r>
              <a:rPr sz="2800" b="0">
                <a:solidFill>
                  <a:srgbClr val="FFFFFF"/>
                </a:solidFill>
                <a:latin typeface="Calibri"/>
              </a:rPr>
              <a:t>Nothing is built until you approve the outline</a:t>
            </a:r>
          </a:p>
        </p:txBody>
      </p:sp>
      <p:pic>
        <p:nvPicPr>
          <p:cNvPr id="5" name="Picture 4" descr="favicon-192x192.png"/>
          <p:cNvPicPr>
            <a:picLocks noChangeAspect="1"/>
          </p:cNvPicPr>
          <p:nvPr/>
        </p:nvPicPr>
        <p:blipFill>
          <a:blip r:embed="rId2"/>
          <a:stretch>
            <a:fillRect/>
          </a:stretch>
        </p:blipFill>
        <p:spPr>
          <a:xfrm>
            <a:off x="548640" y="6515100"/>
            <a:ext cx="274320" cy="274320"/>
          </a:xfrm>
          <a:prstGeom prst="rect">
            <a:avLst/>
          </a:prstGeom>
        </p:spPr>
      </p:pic>
      <p:sp>
        <p:nvSpPr>
          <p:cNvPr id="6" name="TextBox 5"/>
          <p:cNvSpPr txBox="1"/>
          <p:nvPr/>
        </p:nvSpPr>
        <p:spPr>
          <a:xfrm>
            <a:off x="10728655" y="6510528"/>
            <a:ext cx="914400" cy="274320"/>
          </a:xfrm>
          <a:prstGeom prst="rect">
            <a:avLst/>
          </a:prstGeom>
          <a:noFill/>
        </p:spPr>
        <p:txBody>
          <a:bodyPr wrap="square" lIns="0" rIns="0">
            <a:spAutoFit/>
          </a:bodyPr>
          <a:lstStyle/>
          <a:p>
            <a:pPr algn="r">
              <a:lnSpc>
                <a:spcPct val="110000"/>
              </a:lnSpc>
              <a:spcAft>
                <a:spcPts val="1000"/>
              </a:spcAft>
            </a:pPr>
            <a:r>
              <a:rPr sz="1100" b="0">
                <a:solidFill>
                  <a:srgbClr val="57606A"/>
                </a:solidFill>
                <a:latin typeface="Calibri"/>
              </a:rPr>
              <a:t>6</a:t>
            </a:r>
          </a:p>
        </p:txBody>
      </p:sp>
      <p:sp>
        <p:nvSpPr>
          <p:cNvPr id="7" name="TextBox 6"/>
          <p:cNvSpPr txBox="1"/>
          <p:nvPr/>
        </p:nvSpPr>
        <p:spPr>
          <a:xfrm>
            <a:off x="548640" y="1737360"/>
            <a:ext cx="5120640" cy="4206240"/>
          </a:xfrm>
          <a:prstGeom prst="rect">
            <a:avLst/>
          </a:prstGeom>
          <a:noFill/>
        </p:spPr>
        <p:txBody>
          <a:bodyPr wrap="square" lIns="0" rIns="0">
            <a:spAutoFit/>
          </a:bodyPr>
          <a:lstStyle/>
          <a:p>
            <a:pPr marL="329184" indent="-329184">
              <a:lnSpc>
                <a:spcPct val="110000"/>
              </a:lnSpc>
              <a:spcAft>
                <a:spcPts val="1800"/>
              </a:spcAft>
              <a:buFont typeface="Calibri"/>
              <a:buAutoNum type="arabicPeriod"/>
            </a:pPr>
            <a:r>
              <a:rPr sz="2000" b="0">
                <a:solidFill>
                  <a:srgbClr val="1F2328"/>
                </a:solidFill>
                <a:latin typeface="Calibri"/>
              </a:rPr>
              <a:t>Ask: deck type, audience, length, brand</a:t>
            </a:r>
          </a:p>
          <a:p>
            <a:pPr marL="329184" indent="-329184">
              <a:lnSpc>
                <a:spcPct val="110000"/>
              </a:lnSpc>
              <a:spcAft>
                <a:spcPts val="1800"/>
              </a:spcAft>
              <a:buFont typeface="Calibri"/>
              <a:buAutoNum type="arabicPeriod"/>
            </a:pPr>
            <a:r>
              <a:rPr sz="2000" b="0">
                <a:solidFill>
                  <a:srgbClr val="1F2328"/>
                </a:solidFill>
                <a:latin typeface="Calibri"/>
              </a:rPr>
              <a:t>Outline: one core message, then a title per slide for your approval</a:t>
            </a:r>
          </a:p>
          <a:p>
            <a:pPr marL="329184" indent="-329184">
              <a:lnSpc>
                <a:spcPct val="110000"/>
              </a:lnSpc>
              <a:spcAft>
                <a:spcPts val="1800"/>
              </a:spcAft>
              <a:buFont typeface="Calibri"/>
              <a:buAutoNum type="arabicPeriod"/>
            </a:pPr>
            <a:r>
              <a:rPr sz="2000" b="0">
                <a:solidFill>
                  <a:srgbClr val="1F2328"/>
                </a:solidFill>
                <a:latin typeface="Calibri"/>
              </a:rPr>
              <a:t>Build: writes the PowerPoint file, with speaker notes</a:t>
            </a:r>
          </a:p>
          <a:p>
            <a:pPr marL="329184" indent="-329184">
              <a:lnSpc>
                <a:spcPct val="110000"/>
              </a:lnSpc>
              <a:spcAft>
                <a:spcPts val="1800"/>
              </a:spcAft>
              <a:buFont typeface="Calibri"/>
              <a:buAutoNum type="arabicPeriod"/>
            </a:pPr>
            <a:r>
              <a:rPr sz="2000" b="0">
                <a:solidFill>
                  <a:srgbClr val="1F2328"/>
                </a:solidFill>
                <a:latin typeface="Calibri"/>
              </a:rPr>
              <a:t>Check: automatic checker, visual review, editing pass</a:t>
            </a:r>
          </a:p>
        </p:txBody>
      </p:sp>
      <p:sp>
        <p:nvSpPr>
          <p:cNvPr id="8" name="Rectangle 7"/>
          <p:cNvSpPr/>
          <p:nvPr/>
        </p:nvSpPr>
        <p:spPr>
          <a:xfrm>
            <a:off x="6035040" y="1737360"/>
            <a:ext cx="5608015" cy="4343400"/>
          </a:xfrm>
          <a:prstGeom prst="rect">
            <a:avLst/>
          </a:prstGeom>
          <a:noFill/>
          <a:ln w="12700">
            <a:solidFill>
              <a:srgbClr val="57606A"/>
            </a:solidFill>
          </a:ln>
        </p:spPr>
        <p:txBody>
          <a:bodyPr rtlCol="0" anchor="ctr" wrap="square"/>
          <a:lstStyle/>
          <a:p>
            <a:pPr algn="ctr"/>
            <a:r>
              <a:rPr sz="1600" b="0">
                <a:solidFill>
                  <a:srgbClr val="57606A"/>
                </a:solidFill>
                <a:latin typeface="Calibri"/>
              </a:rPr>
              <a:t>[ DIAGRAM PLACEHOLDER ]</a:t>
            </a:r>
          </a:p>
          <a:p>
            <a:pPr algn="ctr"/>
            <a:r>
              <a:rPr sz="1400" b="0">
                <a:solidFill>
                  <a:srgbClr val="57606A"/>
                </a:solidFill>
                <a:latin typeface="Calibri"/>
              </a:rPr>
              <a:t>The four steps left to right, with an approval gate after the outline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p:spPr>
        <p:txBody>
          <a:bodyPr rtlCol="0" anchor="ctr"/>
          <a:lstStyle/>
          <a:p>
            <a:pPr algn="ctr"/>
          </a:p>
        </p:txBody>
      </p:sp>
      <p:sp>
        <p:nvSpPr>
          <p:cNvPr id="4" name="TextBox 3"/>
          <p:cNvSpPr txBox="1"/>
          <p:nvPr/>
        </p:nvSpPr>
        <p:spPr>
          <a:xfrm>
            <a:off x="548640" y="182880"/>
            <a:ext cx="11064240" cy="868680"/>
          </a:xfrm>
          <a:prstGeom prst="rect">
            <a:avLst/>
          </a:prstGeom>
          <a:noFill/>
        </p:spPr>
        <p:txBody>
          <a:bodyPr wrap="square" lIns="0" rIns="0" anchor="ctr">
            <a:spAutoFit/>
          </a:bodyPr>
          <a:lstStyle/>
          <a:p>
            <a:pPr>
              <a:lnSpc>
                <a:spcPct val="110000"/>
              </a:lnSpc>
              <a:spcAft>
                <a:spcPts val="1000"/>
              </a:spcAft>
            </a:pPr>
            <a:r>
              <a:rPr sz="2800" b="0">
                <a:solidFill>
                  <a:srgbClr val="FFFFFF"/>
                </a:solidFill>
                <a:latin typeface="Calibri"/>
              </a:rPr>
              <a:t>A deck ships only when the checker finds zero errors</a:t>
            </a:r>
          </a:p>
        </p:txBody>
      </p:sp>
      <p:pic>
        <p:nvPicPr>
          <p:cNvPr id="5" name="Picture 4" descr="favicon-192x192.png"/>
          <p:cNvPicPr>
            <a:picLocks noChangeAspect="1"/>
          </p:cNvPicPr>
          <p:nvPr/>
        </p:nvPicPr>
        <p:blipFill>
          <a:blip r:embed="rId2"/>
          <a:stretch>
            <a:fillRect/>
          </a:stretch>
        </p:blipFill>
        <p:spPr>
          <a:xfrm>
            <a:off x="548640" y="6515100"/>
            <a:ext cx="274320" cy="274320"/>
          </a:xfrm>
          <a:prstGeom prst="rect">
            <a:avLst/>
          </a:prstGeom>
        </p:spPr>
      </p:pic>
      <p:sp>
        <p:nvSpPr>
          <p:cNvPr id="6" name="TextBox 5"/>
          <p:cNvSpPr txBox="1"/>
          <p:nvPr/>
        </p:nvSpPr>
        <p:spPr>
          <a:xfrm>
            <a:off x="10728655" y="6510528"/>
            <a:ext cx="914400" cy="274320"/>
          </a:xfrm>
          <a:prstGeom prst="rect">
            <a:avLst/>
          </a:prstGeom>
          <a:noFill/>
        </p:spPr>
        <p:txBody>
          <a:bodyPr wrap="square" lIns="0" rIns="0">
            <a:spAutoFit/>
          </a:bodyPr>
          <a:lstStyle/>
          <a:p>
            <a:pPr algn="r">
              <a:lnSpc>
                <a:spcPct val="110000"/>
              </a:lnSpc>
              <a:spcAft>
                <a:spcPts val="1000"/>
              </a:spcAft>
            </a:pPr>
            <a:r>
              <a:rPr sz="1100" b="0">
                <a:solidFill>
                  <a:srgbClr val="57606A"/>
                </a:solidFill>
                <a:latin typeface="Calibri"/>
              </a:rPr>
              <a:t>7</a:t>
            </a:r>
          </a:p>
        </p:txBody>
      </p:sp>
      <p:sp>
        <p:nvSpPr>
          <p:cNvPr id="7" name="TextBox 6"/>
          <p:cNvSpPr txBox="1"/>
          <p:nvPr/>
        </p:nvSpPr>
        <p:spPr>
          <a:xfrm>
            <a:off x="548640" y="1783080"/>
            <a:ext cx="5120640" cy="2011680"/>
          </a:xfrm>
          <a:prstGeom prst="rect">
            <a:avLst/>
          </a:prstGeom>
          <a:noFill/>
        </p:spPr>
        <p:txBody>
          <a:bodyPr wrap="square" lIns="0" rIns="0">
            <a:spAutoFit/>
          </a:bodyPr>
          <a:lstStyle/>
          <a:p>
            <a:pPr>
              <a:lnSpc>
                <a:spcPct val="110000"/>
              </a:lnSpc>
              <a:spcAft>
                <a:spcPts val="0"/>
              </a:spcAft>
            </a:pPr>
            <a:r>
              <a:rPr sz="12000" b="0">
                <a:solidFill>
                  <a:srgbClr val="173538"/>
                </a:solidFill>
                <a:latin typeface="Calibri"/>
              </a:rPr>
              <a:t>0</a:t>
            </a:r>
          </a:p>
        </p:txBody>
      </p:sp>
      <p:sp>
        <p:nvSpPr>
          <p:cNvPr id="8" name="TextBox 7"/>
          <p:cNvSpPr txBox="1"/>
          <p:nvPr/>
        </p:nvSpPr>
        <p:spPr>
          <a:xfrm>
            <a:off x="548640" y="3886200"/>
            <a:ext cx="5120640" cy="1097280"/>
          </a:xfrm>
          <a:prstGeom prst="rect">
            <a:avLst/>
          </a:prstGeom>
          <a:noFill/>
        </p:spPr>
        <p:txBody>
          <a:bodyPr wrap="square" lIns="0" rIns="0">
            <a:spAutoFit/>
          </a:bodyPr>
          <a:lstStyle/>
          <a:p>
            <a:pPr>
              <a:lnSpc>
                <a:spcPct val="110000"/>
              </a:lnSpc>
              <a:spcAft>
                <a:spcPts val="1000"/>
              </a:spcAft>
            </a:pPr>
            <a:r>
              <a:rPr sz="2000" b="0">
                <a:solidFill>
                  <a:srgbClr val="57606A"/>
                </a:solidFill>
                <a:latin typeface="Calibri"/>
              </a:rPr>
              <a:t>errors allowed before hand-off; each remaining warning needs a stated reason</a:t>
            </a:r>
          </a:p>
        </p:txBody>
      </p:sp>
      <p:sp>
        <p:nvSpPr>
          <p:cNvPr id="9" name="TextBox 8"/>
          <p:cNvSpPr txBox="1"/>
          <p:nvPr/>
        </p:nvSpPr>
        <p:spPr>
          <a:xfrm>
            <a:off x="6035040" y="1920240"/>
            <a:ext cx="5608015" cy="457200"/>
          </a:xfrm>
          <a:prstGeom prst="rect">
            <a:avLst/>
          </a:prstGeom>
          <a:noFill/>
        </p:spPr>
        <p:txBody>
          <a:bodyPr wrap="square" lIns="0" rIns="0">
            <a:spAutoFit/>
          </a:bodyPr>
          <a:lstStyle/>
          <a:p>
            <a:pPr>
              <a:lnSpc>
                <a:spcPct val="110000"/>
              </a:lnSpc>
              <a:spcAft>
                <a:spcPts val="1000"/>
              </a:spcAft>
            </a:pPr>
            <a:r>
              <a:rPr sz="2000" b="0">
                <a:solidFill>
                  <a:srgbClr val="173538"/>
                </a:solidFill>
                <a:latin typeface="Calibri"/>
              </a:rPr>
              <a:t>What the checker catches</a:t>
            </a:r>
          </a:p>
        </p:txBody>
      </p:sp>
      <p:sp>
        <p:nvSpPr>
          <p:cNvPr id="10" name="TextBox 9"/>
          <p:cNvSpPr txBox="1"/>
          <p:nvPr/>
        </p:nvSpPr>
        <p:spPr>
          <a:xfrm>
            <a:off x="6035040" y="2514600"/>
            <a:ext cx="5608015" cy="2926080"/>
          </a:xfrm>
          <a:prstGeom prst="rect">
            <a:avLst/>
          </a:prstGeom>
          <a:noFill/>
        </p:spPr>
        <p:txBody>
          <a:bodyPr wrap="square" lIns="0" rIns="0">
            <a:spAutoFit/>
          </a:bodyPr>
          <a:lstStyle/>
          <a:p>
            <a:pPr marL="329184" indent="-329184">
              <a:lnSpc>
                <a:spcPct val="110000"/>
              </a:lnSpc>
              <a:spcAft>
                <a:spcPts val="1000"/>
              </a:spcAft>
              <a:buFont typeface="Calibri"/>
              <a:buChar char="•"/>
            </a:pPr>
            <a:r>
              <a:rPr sz="1800" b="0">
                <a:solidFill>
                  <a:srgbClr val="1F2328"/>
                </a:solidFill>
                <a:latin typeface="Calibri"/>
              </a:rPr>
              <a:t>Hype words, em dashes and emoji</a:t>
            </a:r>
          </a:p>
          <a:p>
            <a:pPr marL="329184" indent="-329184">
              <a:lnSpc>
                <a:spcPct val="110000"/>
              </a:lnSpc>
              <a:spcAft>
                <a:spcPts val="1000"/>
              </a:spcAft>
              <a:buFont typeface="Calibri"/>
              <a:buChar char="•"/>
            </a:pPr>
            <a:r>
              <a:rPr sz="1800" b="0">
                <a:solidFill>
                  <a:srgbClr val="1F2328"/>
                </a:solidFill>
                <a:latin typeface="Calibri"/>
              </a:rPr>
              <a:t>Titles with full stops, all caps or two colours</a:t>
            </a:r>
          </a:p>
          <a:p>
            <a:pPr marL="329184" indent="-329184">
              <a:lnSpc>
                <a:spcPct val="110000"/>
              </a:lnSpc>
              <a:spcAft>
                <a:spcPts val="1000"/>
              </a:spcAft>
              <a:buFont typeface="Calibri"/>
              <a:buChar char="•"/>
            </a:pPr>
            <a:r>
              <a:rPr sz="1800" b="0">
                <a:solidFill>
                  <a:srgbClr val="1F2328"/>
                </a:solidFill>
                <a:latin typeface="Calibri"/>
              </a:rPr>
              <a:t>Badges, shadows, accent bars and page counters</a:t>
            </a:r>
          </a:p>
          <a:p>
            <a:pPr marL="329184" indent="-329184">
              <a:lnSpc>
                <a:spcPct val="110000"/>
              </a:lnSpc>
              <a:spcAft>
                <a:spcPts val="1000"/>
              </a:spcAft>
              <a:buFont typeface="Calibri"/>
              <a:buChar char="•"/>
            </a:pPr>
            <a:r>
              <a:rPr sz="1800" b="0">
                <a:solidFill>
                  <a:srgbClr val="1F2328"/>
                </a:solidFill>
                <a:latin typeface="Calibri"/>
              </a:rPr>
              <a:t>Missing speaker notes and leftover placeholder text</a:t>
            </a:r>
          </a:p>
          <a:p>
            <a:pPr marL="329184" indent="-329184">
              <a:lnSpc>
                <a:spcPct val="110000"/>
              </a:lnSpc>
              <a:spcAft>
                <a:spcPts val="1000"/>
              </a:spcAft>
              <a:buFont typeface="Calibri"/>
              <a:buChar char="•"/>
            </a:pPr>
            <a:r>
              <a:rPr sz="1800" b="0">
                <a:solidFill>
                  <a:srgbClr val="1F2328"/>
                </a:solidFill>
                <a:latin typeface="Calibri"/>
              </a:rPr>
              <a:t>Runs of identical layouts</a:t>
            </a:r>
          </a:p>
        </p:txBody>
      </p:sp>
      <p:sp>
        <p:nvSpPr>
          <p:cNvPr id="11" name="TextBox 10"/>
          <p:cNvSpPr txBox="1"/>
          <p:nvPr/>
        </p:nvSpPr>
        <p:spPr>
          <a:xfrm>
            <a:off x="548640" y="5120640"/>
            <a:ext cx="11094415" cy="320040"/>
          </a:xfrm>
          <a:prstGeom prst="rect">
            <a:avLst/>
          </a:prstGeom>
          <a:noFill/>
        </p:spPr>
        <p:txBody>
          <a:bodyPr wrap="square" lIns="0" rIns="0">
            <a:spAutoFit/>
          </a:bodyPr>
          <a:lstStyle/>
          <a:p>
            <a:pPr>
              <a:lnSpc>
                <a:spcPct val="110000"/>
              </a:lnSpc>
              <a:spcAft>
                <a:spcPts val="1000"/>
              </a:spcAft>
            </a:pPr>
            <a:r>
              <a:rPr sz="1200" b="0">
                <a:solidFill>
                  <a:srgbClr val="57606A"/>
                </a:solidFill>
                <a:latin typeface="Calibri"/>
              </a:rPr>
              <a:t>Source: lint_deck.py and deck-style.md, section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p:spPr>
        <p:txBody>
          <a:bodyPr rtlCol="0" anchor="ctr"/>
          <a:lstStyle/>
          <a:p>
            <a:pPr algn="ctr"/>
          </a:p>
        </p:txBody>
      </p:sp>
      <p:sp>
        <p:nvSpPr>
          <p:cNvPr id="4" name="TextBox 3"/>
          <p:cNvSpPr txBox="1"/>
          <p:nvPr/>
        </p:nvSpPr>
        <p:spPr>
          <a:xfrm>
            <a:off x="548640" y="182880"/>
            <a:ext cx="11064240" cy="868680"/>
          </a:xfrm>
          <a:prstGeom prst="rect">
            <a:avLst/>
          </a:prstGeom>
          <a:noFill/>
        </p:spPr>
        <p:txBody>
          <a:bodyPr wrap="square" lIns="0" rIns="0" anchor="ctr">
            <a:spAutoFit/>
          </a:bodyPr>
          <a:lstStyle/>
          <a:p>
            <a:pPr>
              <a:lnSpc>
                <a:spcPct val="110000"/>
              </a:lnSpc>
              <a:spcAft>
                <a:spcPts val="1000"/>
              </a:spcAft>
            </a:pPr>
            <a:r>
              <a:rPr sz="2800" b="0">
                <a:solidFill>
                  <a:srgbClr val="FFFFFF"/>
                </a:solidFill>
                <a:latin typeface="Calibri"/>
              </a:rPr>
              <a:t>Slide titles carry the message, so the titles alone tell the story</a:t>
            </a:r>
          </a:p>
        </p:txBody>
      </p:sp>
      <p:pic>
        <p:nvPicPr>
          <p:cNvPr id="5" name="Picture 4" descr="favicon-192x192.png"/>
          <p:cNvPicPr>
            <a:picLocks noChangeAspect="1"/>
          </p:cNvPicPr>
          <p:nvPr/>
        </p:nvPicPr>
        <p:blipFill>
          <a:blip r:embed="rId2"/>
          <a:stretch>
            <a:fillRect/>
          </a:stretch>
        </p:blipFill>
        <p:spPr>
          <a:xfrm>
            <a:off x="548640" y="6515100"/>
            <a:ext cx="274320" cy="274320"/>
          </a:xfrm>
          <a:prstGeom prst="rect">
            <a:avLst/>
          </a:prstGeom>
        </p:spPr>
      </p:pic>
      <p:sp>
        <p:nvSpPr>
          <p:cNvPr id="6" name="TextBox 5"/>
          <p:cNvSpPr txBox="1"/>
          <p:nvPr/>
        </p:nvSpPr>
        <p:spPr>
          <a:xfrm>
            <a:off x="10728655" y="6510528"/>
            <a:ext cx="914400" cy="274320"/>
          </a:xfrm>
          <a:prstGeom prst="rect">
            <a:avLst/>
          </a:prstGeom>
          <a:noFill/>
        </p:spPr>
        <p:txBody>
          <a:bodyPr wrap="square" lIns="0" rIns="0">
            <a:spAutoFit/>
          </a:bodyPr>
          <a:lstStyle/>
          <a:p>
            <a:pPr algn="r">
              <a:lnSpc>
                <a:spcPct val="110000"/>
              </a:lnSpc>
              <a:spcAft>
                <a:spcPts val="1000"/>
              </a:spcAft>
            </a:pPr>
            <a:r>
              <a:rPr sz="1100" b="0">
                <a:solidFill>
                  <a:srgbClr val="57606A"/>
                </a:solidFill>
                <a:latin typeface="Calibri"/>
              </a:rPr>
              <a:t>8</a:t>
            </a:r>
          </a:p>
        </p:txBody>
      </p:sp>
      <p:sp>
        <p:nvSpPr>
          <p:cNvPr id="7" name="TextBox 6"/>
          <p:cNvSpPr txBox="1"/>
          <p:nvPr/>
        </p:nvSpPr>
        <p:spPr>
          <a:xfrm>
            <a:off x="548640" y="1737360"/>
            <a:ext cx="4572000" cy="2743200"/>
          </a:xfrm>
          <a:prstGeom prst="rect">
            <a:avLst/>
          </a:prstGeom>
          <a:noFill/>
        </p:spPr>
        <p:txBody>
          <a:bodyPr wrap="square" lIns="0" rIns="0">
            <a:spAutoFit/>
          </a:bodyPr>
          <a:lstStyle/>
          <a:p>
            <a:pPr>
              <a:lnSpc>
                <a:spcPct val="110000"/>
              </a:lnSpc>
              <a:spcAft>
                <a:spcPts val="2200"/>
              </a:spcAft>
            </a:pPr>
            <a:r>
              <a:rPr sz="2400" b="0">
                <a:solidFill>
                  <a:srgbClr val="1F2328"/>
                </a:solidFill>
                <a:latin typeface="Calibri"/>
              </a:rPr>
              <a:t>Topic labels say what a slide is about</a:t>
            </a:r>
          </a:p>
          <a:p>
            <a:pPr>
              <a:lnSpc>
                <a:spcPct val="110000"/>
              </a:lnSpc>
              <a:spcAft>
                <a:spcPts val="2200"/>
              </a:spcAft>
            </a:pPr>
            <a:r>
              <a:rPr sz="2400" b="0">
                <a:solidFill>
                  <a:srgbClr val="1F2328"/>
                </a:solidFill>
                <a:latin typeface="Calibri"/>
              </a:rPr>
              <a:t>Assertion titles say what the audience should remember</a:t>
            </a:r>
          </a:p>
        </p:txBody>
      </p:sp>
      <p:graphicFrame>
        <p:nvGraphicFramePr>
          <p:cNvPr id="8" name="Table 7"/>
          <p:cNvGraphicFramePr>
            <a:graphicFrameLocks noGrp="1"/>
          </p:cNvGraphicFramePr>
          <p:nvPr/>
        </p:nvGraphicFramePr>
        <p:xfrm>
          <a:off x="6035040" y="1737360"/>
          <a:ext cx="5608015" cy="1920239"/>
        </p:xfrm>
        <a:graphic>
          <a:graphicData uri="http://schemas.openxmlformats.org/drawingml/2006/table">
            <a:tbl>
              <a:tblPr firstRow="0" bandRow="0">
                <a:tableStyleId>{2D5ABB26-0587-4C30-8999-92F81FD0307C}</a:tableStyleId>
              </a:tblPr>
              <a:tblGrid>
                <a:gridCol w="1737360"/>
                <a:gridCol w="3870655"/>
              </a:tblGrid>
              <a:tr h="640079">
                <a:tc>
                  <a:txBody>
                    <a:bodyPr/>
                    <a:lstStyle/>
                    <a:p>
                      <a:r>
                        <a:rPr sz="1800" b="0">
                          <a:solidFill>
                            <a:srgbClr val="173538"/>
                          </a:solidFill>
                          <a:latin typeface="Calibri"/>
                        </a:rPr>
                        <a:t>Topic label</a:t>
                      </a:r>
                    </a:p>
                  </a:txBody>
                  <a:tcPr anchor="ctr" marL="0" marR="137160">
                    <a:noFill/>
                    <a:lnB w="25400">
                      <a:solidFill>
                        <a:srgbClr val="173538"/>
                      </a:solidFill>
                    </a:lnB>
                  </a:tcPr>
                </a:tc>
                <a:tc>
                  <a:txBody>
                    <a:bodyPr/>
                    <a:lstStyle/>
                    <a:p>
                      <a:r>
                        <a:rPr sz="1800" b="0">
                          <a:solidFill>
                            <a:srgbClr val="173538"/>
                          </a:solidFill>
                          <a:latin typeface="Calibri"/>
                        </a:rPr>
                        <a:t>Assertion title</a:t>
                      </a:r>
                    </a:p>
                  </a:txBody>
                  <a:tcPr anchor="ctr" marL="0" marR="137160">
                    <a:noFill/>
                    <a:lnB w="25400">
                      <a:solidFill>
                        <a:srgbClr val="173538"/>
                      </a:solidFill>
                    </a:lnB>
                  </a:tcPr>
                </a:tc>
              </a:tr>
              <a:tr h="640079">
                <a:tc>
                  <a:txBody>
                    <a:bodyPr/>
                    <a:lstStyle/>
                    <a:p>
                      <a:r>
                        <a:rPr sz="1800" b="0">
                          <a:solidFill>
                            <a:srgbClr val="1F2328"/>
                          </a:solidFill>
                          <a:latin typeface="Calibri"/>
                        </a:rPr>
                        <a:t>Performance</a:t>
                      </a:r>
                    </a:p>
                  </a:txBody>
                  <a:tcPr anchor="ctr" marL="0" marR="137160">
                    <a:noFill/>
                    <a:lnB w="9525">
                      <a:solidFill>
                        <a:srgbClr val="D0D7DE"/>
                      </a:solidFill>
                    </a:lnB>
                  </a:tcPr>
                </a:tc>
                <a:tc>
                  <a:txBody>
                    <a:bodyPr/>
                    <a:lstStyle/>
                    <a:p>
                      <a:r>
                        <a:rPr sz="1800" b="0">
                          <a:solidFill>
                            <a:srgbClr val="1F2328"/>
                          </a:solidFill>
                          <a:latin typeface="Calibri"/>
                        </a:rPr>
                        <a:t>Ingest latency fell from 4 s to 300 ms</a:t>
                      </a:r>
                    </a:p>
                  </a:txBody>
                  <a:tcPr anchor="ctr" marL="0" marR="137160">
                    <a:noFill/>
                    <a:lnB w="9525">
                      <a:solidFill>
                        <a:srgbClr val="D0D7DE"/>
                      </a:solidFill>
                    </a:lnB>
                  </a:tcPr>
                </a:tc>
              </a:tr>
              <a:tr h="640081">
                <a:tc>
                  <a:txBody>
                    <a:bodyPr/>
                    <a:lstStyle/>
                    <a:p>
                      <a:r>
                        <a:rPr sz="1800" b="0">
                          <a:solidFill>
                            <a:srgbClr val="1F2328"/>
                          </a:solidFill>
                          <a:latin typeface="Calibri"/>
                        </a:rPr>
                        <a:t>Architecture</a:t>
                      </a:r>
                    </a:p>
                  </a:txBody>
                  <a:tcPr anchor="ctr" marL="0" marR="137160">
                    <a:noFill/>
                    <a:lnB w="9525">
                      <a:solidFill>
                        <a:srgbClr val="D0D7DE"/>
                      </a:solidFill>
                    </a:lnB>
                  </a:tcPr>
                </a:tc>
                <a:tc>
                  <a:txBody>
                    <a:bodyPr/>
                    <a:lstStyle/>
                    <a:p>
                      <a:r>
                        <a:rPr sz="1800" b="0">
                          <a:solidFill>
                            <a:srgbClr val="1F2328"/>
                          </a:solidFill>
                          <a:latin typeface="Calibri"/>
                        </a:rPr>
                        <a:t>Three services share one event queue</a:t>
                      </a:r>
                    </a:p>
                  </a:txBody>
                  <a:tcPr anchor="ctr" marL="0" marR="137160">
                    <a:noFill/>
                    <a:lnB w="9525">
                      <a:solidFill>
                        <a:srgbClr val="D0D7DE"/>
                      </a:solidFill>
                    </a:lnB>
                  </a:tcPr>
                </a:tc>
              </a:tr>
            </a:tbl>
          </a:graphicData>
        </a:graphic>
      </p:graphicFrame>
      <p:sp>
        <p:nvSpPr>
          <p:cNvPr id="9" name="TextBox 8"/>
          <p:cNvSpPr txBox="1"/>
          <p:nvPr/>
        </p:nvSpPr>
        <p:spPr>
          <a:xfrm>
            <a:off x="6035040" y="3794760"/>
            <a:ext cx="5608015" cy="320040"/>
          </a:xfrm>
          <a:prstGeom prst="rect">
            <a:avLst/>
          </a:prstGeom>
          <a:noFill/>
        </p:spPr>
        <p:txBody>
          <a:bodyPr wrap="square" lIns="0" rIns="0">
            <a:spAutoFit/>
          </a:bodyPr>
          <a:lstStyle/>
          <a:p>
            <a:pPr>
              <a:lnSpc>
                <a:spcPct val="110000"/>
              </a:lnSpc>
              <a:spcAft>
                <a:spcPts val="1000"/>
              </a:spcAft>
            </a:pPr>
            <a:r>
              <a:rPr sz="1200" b="0">
                <a:solidFill>
                  <a:srgbClr val="57606A"/>
                </a:solidFill>
                <a:latin typeface="Calibri"/>
              </a:rPr>
              <a:t>Examples from deck-style.md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p:spPr>
        <p:txBody>
          <a:bodyPr rtlCol="0" anchor="ctr"/>
          <a:lstStyle/>
          <a:p>
            <a:pPr algn="ctr"/>
          </a:p>
        </p:txBody>
      </p:sp>
      <p:sp>
        <p:nvSpPr>
          <p:cNvPr id="4" name="TextBox 3"/>
          <p:cNvSpPr txBox="1"/>
          <p:nvPr/>
        </p:nvSpPr>
        <p:spPr>
          <a:xfrm>
            <a:off x="548640" y="182880"/>
            <a:ext cx="11064240" cy="868680"/>
          </a:xfrm>
          <a:prstGeom prst="rect">
            <a:avLst/>
          </a:prstGeom>
          <a:noFill/>
        </p:spPr>
        <p:txBody>
          <a:bodyPr wrap="square" lIns="0" rIns="0" anchor="ctr">
            <a:spAutoFit/>
          </a:bodyPr>
          <a:lstStyle/>
          <a:p>
            <a:pPr>
              <a:lnSpc>
                <a:spcPct val="110000"/>
              </a:lnSpc>
              <a:spcAft>
                <a:spcPts val="1000"/>
              </a:spcAft>
            </a:pPr>
            <a:r>
              <a:rPr sz="2800" b="0">
                <a:solidFill>
                  <a:srgbClr val="FFFFFF"/>
                </a:solidFill>
                <a:latin typeface="Calibri"/>
              </a:rPr>
              <a:t>It builds on five published sources, each credited</a:t>
            </a:r>
          </a:p>
        </p:txBody>
      </p:sp>
      <p:pic>
        <p:nvPicPr>
          <p:cNvPr id="5" name="Picture 4" descr="favicon-192x192.png"/>
          <p:cNvPicPr>
            <a:picLocks noChangeAspect="1"/>
          </p:cNvPicPr>
          <p:nvPr/>
        </p:nvPicPr>
        <p:blipFill>
          <a:blip r:embed="rId2"/>
          <a:stretch>
            <a:fillRect/>
          </a:stretch>
        </p:blipFill>
        <p:spPr>
          <a:xfrm>
            <a:off x="548640" y="6515100"/>
            <a:ext cx="274320" cy="274320"/>
          </a:xfrm>
          <a:prstGeom prst="rect">
            <a:avLst/>
          </a:prstGeom>
        </p:spPr>
      </p:pic>
      <p:sp>
        <p:nvSpPr>
          <p:cNvPr id="6" name="TextBox 5"/>
          <p:cNvSpPr txBox="1"/>
          <p:nvPr/>
        </p:nvSpPr>
        <p:spPr>
          <a:xfrm>
            <a:off x="10728655" y="6510528"/>
            <a:ext cx="914400" cy="274320"/>
          </a:xfrm>
          <a:prstGeom prst="rect">
            <a:avLst/>
          </a:prstGeom>
          <a:noFill/>
        </p:spPr>
        <p:txBody>
          <a:bodyPr wrap="square" lIns="0" rIns="0">
            <a:spAutoFit/>
          </a:bodyPr>
          <a:lstStyle/>
          <a:p>
            <a:pPr algn="r">
              <a:lnSpc>
                <a:spcPct val="110000"/>
              </a:lnSpc>
              <a:spcAft>
                <a:spcPts val="1000"/>
              </a:spcAft>
            </a:pPr>
            <a:r>
              <a:rPr sz="1100" b="0">
                <a:solidFill>
                  <a:srgbClr val="57606A"/>
                </a:solidFill>
                <a:latin typeface="Calibri"/>
              </a:rPr>
              <a:t>9</a:t>
            </a:r>
          </a:p>
        </p:txBody>
      </p:sp>
      <p:graphicFrame>
        <p:nvGraphicFramePr>
          <p:cNvPr id="7" name="Table 6"/>
          <p:cNvGraphicFramePr>
            <a:graphicFrameLocks noGrp="1"/>
          </p:cNvGraphicFramePr>
          <p:nvPr/>
        </p:nvGraphicFramePr>
        <p:xfrm>
          <a:off x="548640" y="1691640"/>
          <a:ext cx="11094415" cy="3730752"/>
        </p:xfrm>
        <a:graphic>
          <a:graphicData uri="http://schemas.openxmlformats.org/drawingml/2006/table">
            <a:tbl>
              <a:tblPr firstRow="0" bandRow="0">
                <a:tableStyleId>{2D5ABB26-0587-4C30-8999-92F81FD0307C}</a:tableStyleId>
              </a:tblPr>
              <a:tblGrid>
                <a:gridCol w="4754880"/>
                <a:gridCol w="6339535"/>
              </a:tblGrid>
              <a:tr h="621792">
                <a:tc>
                  <a:txBody>
                    <a:bodyPr/>
                    <a:lstStyle/>
                    <a:p>
                      <a:r>
                        <a:rPr sz="2000" b="0">
                          <a:solidFill>
                            <a:srgbClr val="173538"/>
                          </a:solidFill>
                          <a:latin typeface="Calibri"/>
                        </a:rPr>
                        <a:t>Source</a:t>
                      </a:r>
                    </a:p>
                  </a:txBody>
                  <a:tcPr anchor="ctr" marL="0" marR="137160">
                    <a:noFill/>
                    <a:lnB w="25400">
                      <a:solidFill>
                        <a:srgbClr val="173538"/>
                      </a:solidFill>
                    </a:lnB>
                  </a:tcPr>
                </a:tc>
                <a:tc>
                  <a:txBody>
                    <a:bodyPr/>
                    <a:lstStyle/>
                    <a:p>
                      <a:r>
                        <a:rPr sz="2000" b="0">
                          <a:solidFill>
                            <a:srgbClr val="173538"/>
                          </a:solidFill>
                          <a:latin typeface="Calibri"/>
                        </a:rPr>
                        <a:t>What it gave the skill</a:t>
                      </a:r>
                    </a:p>
                  </a:txBody>
                  <a:tcPr anchor="ctr" marL="0" marR="137160">
                    <a:noFill/>
                    <a:lnB w="25400">
                      <a:solidFill>
                        <a:srgbClr val="173538"/>
                      </a:solidFill>
                    </a:lnB>
                  </a:tcPr>
                </a:tc>
              </a:tr>
              <a:tr h="621792">
                <a:tc>
                  <a:txBody>
                    <a:bodyPr/>
                    <a:lstStyle/>
                    <a:p>
                      <a:r>
                        <a:rPr sz="2000" b="0">
                          <a:solidFill>
                            <a:srgbClr val="1F2328"/>
                          </a:solidFill>
                          <a:latin typeface="Calibri"/>
                        </a:rPr>
                        <a:t>Skill-design article, Lax Meiyappan</a:t>
                      </a:r>
                    </a:p>
                  </a:txBody>
                  <a:tcPr anchor="ctr" marL="0" marR="137160">
                    <a:noFill/>
                    <a:lnB w="9525">
                      <a:solidFill>
                        <a:srgbClr val="D0D7DE"/>
                      </a:solidFill>
                    </a:lnB>
                  </a:tcPr>
                </a:tc>
                <a:tc>
                  <a:txBody>
                    <a:bodyPr/>
                    <a:lstStyle/>
                    <a:p>
                      <a:r>
                        <a:rPr sz="2000" b="0">
                          <a:solidFill>
                            <a:srgbClr val="1F2328"/>
                          </a:solidFill>
                          <a:latin typeface="Calibri"/>
                        </a:rPr>
                        <a:t>Lean core file, details loaded on demand</a:t>
                      </a:r>
                    </a:p>
                  </a:txBody>
                  <a:tcPr anchor="ctr" marL="0" marR="137160">
                    <a:noFill/>
                    <a:lnB w="9525">
                      <a:solidFill>
                        <a:srgbClr val="D0D7DE"/>
                      </a:solidFill>
                    </a:lnB>
                  </a:tcPr>
                </a:tc>
              </a:tr>
              <a:tr h="621792">
                <a:tc>
                  <a:txBody>
                    <a:bodyPr/>
                    <a:lstStyle/>
                    <a:p>
                      <a:r>
                        <a:rPr sz="2000" b="0">
                          <a:solidFill>
                            <a:srgbClr val="1F2328"/>
                          </a:solidFill>
                          <a:latin typeface="Calibri"/>
                        </a:rPr>
                        <a:t>prznt-deck skill (MIT)</a:t>
                      </a:r>
                    </a:p>
                  </a:txBody>
                  <a:tcPr anchor="ctr" marL="0" marR="137160">
                    <a:noFill/>
                    <a:lnB w="9525">
                      <a:solidFill>
                        <a:srgbClr val="D0D7DE"/>
                      </a:solidFill>
                    </a:lnB>
                  </a:tcPr>
                </a:tc>
                <a:tc>
                  <a:txBody>
                    <a:bodyPr/>
                    <a:lstStyle/>
                    <a:p>
                      <a:r>
                        <a:rPr sz="2000" b="0">
                          <a:solidFill>
                            <a:srgbClr val="1F2328"/>
                          </a:solidFill>
                          <a:latin typeface="Calibri"/>
                        </a:rPr>
                        <a:t>Visual bans, a checker that blocks delivery</a:t>
                      </a:r>
                    </a:p>
                  </a:txBody>
                  <a:tcPr anchor="ctr" marL="0" marR="137160">
                    <a:noFill/>
                    <a:lnB w="9525">
                      <a:solidFill>
                        <a:srgbClr val="D0D7DE"/>
                      </a:solidFill>
                    </a:lnB>
                  </a:tcPr>
                </a:tc>
              </a:tr>
              <a:tr h="621792">
                <a:tc>
                  <a:txBody>
                    <a:bodyPr/>
                    <a:lstStyle/>
                    <a:p>
                      <a:r>
                        <a:rPr sz="2000" b="0">
                          <a:solidFill>
                            <a:srgbClr val="1F2328"/>
                          </a:solidFill>
                          <a:latin typeface="Calibri"/>
                        </a:rPr>
                        <a:t>anti-ai-slop skill (MIT)</a:t>
                      </a:r>
                    </a:p>
                  </a:txBody>
                  <a:tcPr anchor="ctr" marL="0" marR="137160">
                    <a:noFill/>
                    <a:lnB w="9525">
                      <a:solidFill>
                        <a:srgbClr val="D0D7DE"/>
                      </a:solidFill>
                    </a:lnB>
                  </a:tcPr>
                </a:tc>
                <a:tc>
                  <a:txBody>
                    <a:bodyPr/>
                    <a:lstStyle/>
                    <a:p>
                      <a:r>
                        <a:rPr sz="2000" b="0">
                          <a:solidFill>
                            <a:srgbClr val="1F2328"/>
                          </a:solidFill>
                          <a:latin typeface="Calibri"/>
                        </a:rPr>
                        <a:t>Bullet rhythm, stat tiles, AI palettes</a:t>
                      </a:r>
                    </a:p>
                  </a:txBody>
                  <a:tcPr anchor="ctr" marL="0" marR="137160">
                    <a:noFill/>
                    <a:lnB w="9525">
                      <a:solidFill>
                        <a:srgbClr val="D0D7DE"/>
                      </a:solidFill>
                    </a:lnB>
                  </a:tcPr>
                </a:tc>
              </a:tr>
              <a:tr h="621792">
                <a:tc>
                  <a:txBody>
                    <a:bodyPr/>
                    <a:lstStyle/>
                    <a:p>
                      <a:r>
                        <a:rPr sz="2000" b="0">
                          <a:solidFill>
                            <a:srgbClr val="1F2328"/>
                          </a:solidFill>
                          <a:latin typeface="Calibri"/>
                        </a:rPr>
                        <a:t>Perceptis guide</a:t>
                      </a:r>
                    </a:p>
                  </a:txBody>
                  <a:tcPr anchor="ctr" marL="0" marR="137160">
                    <a:noFill/>
                    <a:lnB w="9525">
                      <a:solidFill>
                        <a:srgbClr val="D0D7DE"/>
                      </a:solidFill>
                    </a:lnB>
                  </a:tcPr>
                </a:tc>
                <a:tc>
                  <a:txBody>
                    <a:bodyPr/>
                    <a:lstStyle/>
                    <a:p>
                      <a:r>
                        <a:rPr sz="2000" b="0">
                          <a:solidFill>
                            <a:srgbClr val="1F2328"/>
                          </a:solidFill>
                          <a:latin typeface="Calibri"/>
                        </a:rPr>
                        <a:t>Core message first, no invented causes</a:t>
                      </a:r>
                    </a:p>
                  </a:txBody>
                  <a:tcPr anchor="ctr" marL="0" marR="137160">
                    <a:noFill/>
                    <a:lnB w="9525">
                      <a:solidFill>
                        <a:srgbClr val="D0D7DE"/>
                      </a:solidFill>
                    </a:lnB>
                  </a:tcPr>
                </a:tc>
              </a:tr>
              <a:tr h="621792">
                <a:tc>
                  <a:txBody>
                    <a:bodyPr/>
                    <a:lstStyle/>
                    <a:p>
                      <a:r>
                        <a:rPr sz="2000" b="0">
                          <a:solidFill>
                            <a:srgbClr val="1F2328"/>
                          </a:solidFill>
                          <a:latin typeface="Calibri"/>
                        </a:rPr>
                        <a:t>Plus AI guide</a:t>
                      </a:r>
                    </a:p>
                  </a:txBody>
                  <a:tcPr anchor="ctr" marL="0" marR="137160">
                    <a:noFill/>
                    <a:lnB w="9525">
                      <a:solidFill>
                        <a:srgbClr val="D0D7DE"/>
                      </a:solidFill>
                    </a:lnB>
                  </a:tcPr>
                </a:tc>
                <a:tc>
                  <a:txBody>
                    <a:bodyPr/>
                    <a:lstStyle/>
                    <a:p>
                      <a:r>
                        <a:rPr sz="2000" b="0">
                          <a:solidFill>
                            <a:srgbClr val="1F2328"/>
                          </a:solidFill>
                          <a:latin typeface="Calibri"/>
                        </a:rPr>
                        <a:t>Ask for brand colours, no dashboards</a:t>
                      </a:r>
                    </a:p>
                  </a:txBody>
                  <a:tcPr anchor="ctr" marL="0" marR="137160">
                    <a:noFill/>
                    <a:lnB w="9525">
                      <a:solidFill>
                        <a:srgbClr val="D0D7DE"/>
                      </a:solidFill>
                    </a:lnB>
                  </a:tcPr>
                </a:tc>
              </a:tr>
            </a:tbl>
          </a:graphicData>
        </a:graphic>
      </p:graphicFrame>
      <p:sp>
        <p:nvSpPr>
          <p:cNvPr id="8" name="TextBox 7"/>
          <p:cNvSpPr txBox="1"/>
          <p:nvPr/>
        </p:nvSpPr>
        <p:spPr>
          <a:xfrm>
            <a:off x="548640" y="5577840"/>
            <a:ext cx="11094415" cy="320040"/>
          </a:xfrm>
          <a:prstGeom prst="rect">
            <a:avLst/>
          </a:prstGeom>
          <a:noFill/>
        </p:spPr>
        <p:txBody>
          <a:bodyPr wrap="square" lIns="0" rIns="0">
            <a:spAutoFit/>
          </a:bodyPr>
          <a:lstStyle/>
          <a:p>
            <a:pPr>
              <a:lnSpc>
                <a:spcPct val="110000"/>
              </a:lnSpc>
              <a:spcAft>
                <a:spcPts val="1000"/>
              </a:spcAft>
            </a:pPr>
            <a:r>
              <a:rPr sz="1200" b="0">
                <a:solidFill>
                  <a:srgbClr val="57606A"/>
                </a:solidFill>
                <a:latin typeface="Calibri"/>
              </a:rPr>
              <a:t>Source: CREDITS.md; icons from Lucide (ISC)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34440"/>
          </a:xfrm>
          <a:prstGeom prst="rect">
            <a:avLst/>
          </a:prstGeom>
          <a:solidFill>
            <a:srgbClr val="173538"/>
          </a:solidFill>
          <a:ln>
            <a:noFill/>
          </a:ln>
        </p:spPr>
        <p:txBody>
          <a:bodyPr rtlCol="0" anchor="ctr"/>
          <a:lstStyle/>
          <a:p>
            <a:pPr algn="ctr"/>
          </a:p>
        </p:txBody>
      </p:sp>
      <p:sp>
        <p:nvSpPr>
          <p:cNvPr id="3" name="Rectangle 2"/>
          <p:cNvSpPr/>
          <p:nvPr/>
        </p:nvSpPr>
        <p:spPr>
          <a:xfrm>
            <a:off x="0" y="6446520"/>
            <a:ext cx="12191695" cy="411480"/>
          </a:xfrm>
          <a:prstGeom prst="rect">
            <a:avLst/>
          </a:prstGeom>
          <a:solidFill>
            <a:srgbClr val="F1F3F5"/>
          </a:solidFill>
          <a:ln>
            <a:noFill/>
          </a:ln>
        </p:spPr>
        <p:txBody>
          <a:bodyPr rtlCol="0" anchor="ctr"/>
          <a:lstStyle/>
          <a:p>
            <a:pPr algn="ctr"/>
          </a:p>
        </p:txBody>
      </p:sp>
      <p:sp>
        <p:nvSpPr>
          <p:cNvPr id="4" name="TextBox 3"/>
          <p:cNvSpPr txBox="1"/>
          <p:nvPr/>
        </p:nvSpPr>
        <p:spPr>
          <a:xfrm>
            <a:off x="548640" y="182880"/>
            <a:ext cx="11064240" cy="868680"/>
          </a:xfrm>
          <a:prstGeom prst="rect">
            <a:avLst/>
          </a:prstGeom>
          <a:noFill/>
        </p:spPr>
        <p:txBody>
          <a:bodyPr wrap="square" lIns="0" rIns="0" anchor="ctr">
            <a:spAutoFit/>
          </a:bodyPr>
          <a:lstStyle/>
          <a:p>
            <a:pPr>
              <a:lnSpc>
                <a:spcPct val="110000"/>
              </a:lnSpc>
              <a:spcAft>
                <a:spcPts val="1000"/>
              </a:spcAft>
            </a:pPr>
            <a:r>
              <a:rPr sz="2800" b="0">
                <a:solidFill>
                  <a:srgbClr val="FFFFFF"/>
                </a:solidFill>
                <a:latin typeface="Calibri"/>
              </a:rPr>
              <a:t>The workflow, checker and brand tools were written for this suite</a:t>
            </a:r>
          </a:p>
        </p:txBody>
      </p:sp>
      <p:pic>
        <p:nvPicPr>
          <p:cNvPr id="5" name="Picture 4" descr="favicon-192x192.png"/>
          <p:cNvPicPr>
            <a:picLocks noChangeAspect="1"/>
          </p:cNvPicPr>
          <p:nvPr/>
        </p:nvPicPr>
        <p:blipFill>
          <a:blip r:embed="rId2"/>
          <a:stretch>
            <a:fillRect/>
          </a:stretch>
        </p:blipFill>
        <p:spPr>
          <a:xfrm>
            <a:off x="548640" y="6515100"/>
            <a:ext cx="274320" cy="274320"/>
          </a:xfrm>
          <a:prstGeom prst="rect">
            <a:avLst/>
          </a:prstGeom>
        </p:spPr>
      </p:pic>
      <p:sp>
        <p:nvSpPr>
          <p:cNvPr id="6" name="TextBox 5"/>
          <p:cNvSpPr txBox="1"/>
          <p:nvPr/>
        </p:nvSpPr>
        <p:spPr>
          <a:xfrm>
            <a:off x="10728655" y="6510528"/>
            <a:ext cx="914400" cy="274320"/>
          </a:xfrm>
          <a:prstGeom prst="rect">
            <a:avLst/>
          </a:prstGeom>
          <a:noFill/>
        </p:spPr>
        <p:txBody>
          <a:bodyPr wrap="square" lIns="0" rIns="0">
            <a:spAutoFit/>
          </a:bodyPr>
          <a:lstStyle/>
          <a:p>
            <a:pPr algn="r">
              <a:lnSpc>
                <a:spcPct val="110000"/>
              </a:lnSpc>
              <a:spcAft>
                <a:spcPts val="1000"/>
              </a:spcAft>
            </a:pPr>
            <a:r>
              <a:rPr sz="1100" b="0">
                <a:solidFill>
                  <a:srgbClr val="57606A"/>
                </a:solidFill>
                <a:latin typeface="Calibri"/>
              </a:rPr>
              <a:t>10</a:t>
            </a:r>
          </a:p>
        </p:txBody>
      </p:sp>
      <p:sp>
        <p:nvSpPr>
          <p:cNvPr id="7" name="TextBox 6"/>
          <p:cNvSpPr txBox="1"/>
          <p:nvPr/>
        </p:nvSpPr>
        <p:spPr>
          <a:xfrm>
            <a:off x="548640" y="1737360"/>
            <a:ext cx="9601200" cy="3840480"/>
          </a:xfrm>
          <a:prstGeom prst="rect">
            <a:avLst/>
          </a:prstGeom>
          <a:noFill/>
        </p:spPr>
        <p:txBody>
          <a:bodyPr wrap="square" lIns="0" rIns="0">
            <a:spAutoFit/>
          </a:bodyPr>
          <a:lstStyle/>
          <a:p>
            <a:pPr marL="329184" indent="-329184">
              <a:lnSpc>
                <a:spcPct val="110000"/>
              </a:lnSpc>
              <a:spcAft>
                <a:spcPts val="2200"/>
              </a:spcAft>
              <a:buFont typeface="Calibri"/>
              <a:buChar char="•"/>
            </a:pPr>
            <a:r>
              <a:rPr sz="2400" b="0">
                <a:solidFill>
                  <a:srgbClr val="1F2328"/>
                </a:solidFill>
                <a:latin typeface="Calibri"/>
              </a:rPr>
              <a:t>Workflow: deck modes, outline approval, facts shared with the sibling skills</a:t>
            </a:r>
          </a:p>
          <a:p>
            <a:pPr marL="329184" indent="-329184">
              <a:lnSpc>
                <a:spcPct val="110000"/>
              </a:lnSpc>
              <a:spcAft>
                <a:spcPts val="2200"/>
              </a:spcAft>
              <a:buFont typeface="Calibri"/>
              <a:buChar char="•"/>
            </a:pPr>
            <a:r>
              <a:rPr sz="2400" b="0">
                <a:solidFill>
                  <a:srgbClr val="1F2328"/>
                </a:solidFill>
                <a:latin typeface="Calibri"/>
              </a:rPr>
              <a:t>Rules: assertion titles, banned vocabulary, template precedence</a:t>
            </a:r>
          </a:p>
          <a:p>
            <a:pPr marL="329184" indent="-329184">
              <a:lnSpc>
                <a:spcPct val="110000"/>
              </a:lnSpc>
              <a:spcAft>
                <a:spcPts val="2200"/>
              </a:spcAft>
              <a:buFont typeface="Calibri"/>
              <a:buChar char="•"/>
            </a:pPr>
            <a:r>
              <a:rPr sz="2400" b="0">
                <a:solidFill>
                  <a:srgbClr val="1F2328"/>
                </a:solidFill>
                <a:latin typeface="Calibri"/>
              </a:rPr>
              <a:t>Tools: deck checker, icon renderer, logo colour analysis</a:t>
            </a:r>
          </a:p>
          <a:p>
            <a:pPr marL="329184" indent="-329184">
              <a:lnSpc>
                <a:spcPct val="110000"/>
              </a:lnSpc>
              <a:spcAft>
                <a:spcPts val="2200"/>
              </a:spcAft>
              <a:buFont typeface="Calibri"/>
              <a:buChar char="•"/>
            </a:pPr>
            <a:r>
              <a:rPr sz="2400" b="0">
                <a:solidFill>
                  <a:srgbClr val="1F2328"/>
                </a:solidFill>
                <a:latin typeface="Calibri"/>
              </a:rPr>
              <a:t>Design: brand frame, big-type slides, split title slide</a:t>
            </a:r>
          </a:p>
        </p:txBody>
      </p:sp>
      <p:sp>
        <p:nvSpPr>
          <p:cNvPr id="8" name="TextBox 7"/>
          <p:cNvSpPr txBox="1"/>
          <p:nvPr/>
        </p:nvSpPr>
        <p:spPr>
          <a:xfrm>
            <a:off x="548640" y="5577840"/>
            <a:ext cx="11094415" cy="320040"/>
          </a:xfrm>
          <a:prstGeom prst="rect">
            <a:avLst/>
          </a:prstGeom>
          <a:noFill/>
        </p:spPr>
        <p:txBody>
          <a:bodyPr wrap="square" lIns="0" rIns="0">
            <a:spAutoFit/>
          </a:bodyPr>
          <a:lstStyle/>
          <a:p>
            <a:pPr>
              <a:lnSpc>
                <a:spcPct val="110000"/>
              </a:lnSpc>
              <a:spcAft>
                <a:spcPts val="1000"/>
              </a:spcAft>
            </a:pPr>
            <a:r>
              <a:rPr sz="1200" b="0">
                <a:solidFill>
                  <a:srgbClr val="57606A"/>
                </a:solidFill>
                <a:latin typeface="Calibri"/>
              </a:rPr>
              <a:t>Source: CREDITS.md and the project-docs suite README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3538"/>
        </a:solidFill>
        <a:effectLst/>
      </p:bgPr>
    </p:bg>
    <p:spTree>
      <p:nvGrpSpPr>
        <p:cNvPr id="1" name=""/>
        <p:cNvGrpSpPr/>
        <p:nvPr/>
      </p:nvGrpSpPr>
      <p:grpSpPr/>
      <p:sp>
        <p:nvSpPr>
          <p:cNvPr id="2" name="TextBox 1"/>
          <p:cNvSpPr txBox="1"/>
          <p:nvPr/>
        </p:nvSpPr>
        <p:spPr>
          <a:xfrm>
            <a:off x="548640" y="1920240"/>
            <a:ext cx="7680960" cy="2103120"/>
          </a:xfrm>
          <a:prstGeom prst="rect">
            <a:avLst/>
          </a:prstGeom>
          <a:noFill/>
        </p:spPr>
        <p:txBody>
          <a:bodyPr wrap="square" lIns="0" rIns="0" anchor="b">
            <a:spAutoFit/>
          </a:bodyPr>
          <a:lstStyle/>
          <a:p>
            <a:pPr>
              <a:lnSpc>
                <a:spcPct val="110000"/>
              </a:lnSpc>
              <a:spcAft>
                <a:spcPts val="0"/>
              </a:spcAft>
            </a:pPr>
            <a:r>
              <a:rPr sz="5400" b="0">
                <a:solidFill>
                  <a:srgbClr val="FFFFFF"/>
                </a:solidFill>
                <a:latin typeface="Calibri"/>
              </a:rPr>
              <a:t>Every claim traces back to your project's facts</a:t>
            </a:r>
          </a:p>
        </p:txBody>
      </p:sp>
      <p:sp>
        <p:nvSpPr>
          <p:cNvPr id="3" name="TextBox 2"/>
          <p:cNvSpPr txBox="1"/>
          <p:nvPr/>
        </p:nvSpPr>
        <p:spPr>
          <a:xfrm>
            <a:off x="548640" y="4160520"/>
            <a:ext cx="7680960" cy="914400"/>
          </a:xfrm>
          <a:prstGeom prst="rect">
            <a:avLst/>
          </a:prstGeom>
          <a:noFill/>
        </p:spPr>
        <p:txBody>
          <a:bodyPr wrap="square" lIns="0" rIns="0">
            <a:spAutoFit/>
          </a:bodyPr>
          <a:lstStyle/>
          <a:p>
            <a:pPr>
              <a:lnSpc>
                <a:spcPct val="110000"/>
              </a:lnSpc>
              <a:spcAft>
                <a:spcPts val="0"/>
              </a:spcAft>
            </a:pPr>
            <a:r>
              <a:rPr sz="2400" b="0">
                <a:solidFill>
                  <a:srgbClr val="BFD3CF"/>
                </a:solidFill>
                <a:latin typeface="Calibri"/>
              </a:rPr>
              <a:t>Missing facts get asked about, never guessed</a:t>
            </a:r>
          </a:p>
        </p:txBody>
      </p:sp>
      <p:pic>
        <p:nvPicPr>
          <p:cNvPr id="4" name="Picture 3" descr="shield-check.png"/>
          <p:cNvPicPr>
            <a:picLocks noChangeAspect="1"/>
          </p:cNvPicPr>
          <p:nvPr/>
        </p:nvPicPr>
        <p:blipFill>
          <a:blip r:embed="rId2"/>
          <a:stretch>
            <a:fillRect/>
          </a:stretch>
        </p:blipFill>
        <p:spPr>
          <a:xfrm>
            <a:off x="8726323" y="1920240"/>
            <a:ext cx="2450184" cy="3017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