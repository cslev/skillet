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Claude Code skill that turns a markdown outline into a PowerPoint deck. Two things set it apart: it builds on your organisation's own template, and it holds the result to rules that stop it from looking machine-made.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habits the skill is built against. The first is about fit: the deck should look like it belongs to you. The next three are the tells that make a deck read as generated. The last one is practical: if you change one slide, you do not want the other nineteen to move.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the outline is a separate step. You can do it by hand, or have any agent draft it from your papers, docs or code. The skill never reads those sources and never adds facts of its own. The only slide it adds on its own is the Thank-you slide at the end.</a:t>
            </a:r>
          </a:p>
          <a:p/>
          <a:p>
            <a:r>
              <a:t>Placeholder brief: flow from three inputs (outline.md heavier than the template and logo) through the pitch-deck skill to the finished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part: what happens when you give the skill a template.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analysis is a script, not a guess by the model, so it is repeatable. It guesses a role for each layout from its name and its placeholders, and says when it is unsure. The roles it looks for are title, divider, content and closing. Each content layout also gets a tag such as paragraph, table or text with image.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reuse is the default for a real template. If the file is only one or two example slides, the skill takes just its style and builds with its own design. Either way you see the mapping first, with any slide that has no good layout flagged.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showed up while building a conference deck on a company template. The skill renders the layouts it plans to use before building, deletes placeholders it does not fill, keeps decorative panels, and uses a helper that preserves a run's formatting.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part: the rules. They matter most when there is no template, because then the skill designs the deck itself.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visible rule. A topic label tells you where you are; an assertion tells you what to conclude. The skill also bans question titles, the X colon The Y of Z formula, and series counters.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is a common mark of a generated deck. The design comes from a consistent frame and big-type section slides, not from ornaments added per element. When a template is used, none of these rules restyle the template; they apply only to shapes the skill adds.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linter exits with a failure code on errors, so the rules are acceptance criteria, not suggestions. The render check catches what a linter cannot: clipped text, overlapping shapes, empty placeholders. Warnings need a judgment call and are listed in the hand-off.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contract. The outline is the only source of content. The skill reports conflicts and claims the numbers cannot support, but it does not quietly reword. If your product's name is a banned word, it is allowed and listed in the hand-off.</a:t>
            </a:r>
          </a:p>
          <a:p/>
          <a:p>
            <a:r>
              <a:t>Placeholder brief: three-step flow: check the outline, propose fixes, you decide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 mode never regenerates the deck, because you may have edited it by hand. It takes a backup and a snapshot, changes the one slide in place, and checks that every other slide is byte for byte identical.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in the skillet repository. The skill looks for the template and logo in a fixed order: the path you name, the outline's front matter, the project's decks folder.</a:t>
            </a:r>
          </a:p>
          <a:p/>
          <a:p>
            <a:r>
              <a:t>Placeholder brief: QR code for github.com/cslev/skillet, supplied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open the floor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4.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828800"/>
            <a:ext cx="6949440" cy="1828800"/>
          </a:xfrm>
          <a:prstGeom prst="rect">
            <a:avLst/>
          </a:prstGeom>
          <a:noFill/>
        </p:spPr>
        <p:txBody>
          <a:bodyPr wrap="square" anchor="b" lIns="45720" rIns="45720" tIns="27432" bIns="27432">
            <a:spAutoFit/>
          </a:bodyPr>
          <a:lstStyle/>
          <a:p>
            <a:pPr algn="l">
              <a:lnSpc>
                <a:spcPct val="110000"/>
              </a:lnSpc>
              <a:spcAft>
                <a:spcPts val="0"/>
              </a:spcAft>
            </a:pPr>
            <a:r>
              <a:rPr sz="4000" b="1">
                <a:solidFill>
                  <a:srgbClr val="FFFFFF"/>
                </a:solidFill>
                <a:latin typeface="Calibri"/>
              </a:rPr>
              <a:t>pitch-deck: a deck builder that works from your outline</a:t>
            </a:r>
          </a:p>
        </p:txBody>
      </p:sp>
      <p:sp>
        <p:nvSpPr>
          <p:cNvPr id="3" name="TextBox 2"/>
          <p:cNvSpPr txBox="1"/>
          <p:nvPr/>
        </p:nvSpPr>
        <p:spPr>
          <a:xfrm>
            <a:off x="548640" y="3794760"/>
            <a:ext cx="6949440" cy="822960"/>
          </a:xfrm>
          <a:prstGeom prst="rect">
            <a:avLst/>
          </a:prstGeom>
          <a:noFill/>
        </p:spPr>
        <p:txBody>
          <a:bodyPr wrap="square" anchor="t" lIns="45720" rIns="45720" tIns="27432" bIns="27432">
            <a:spAutoFit/>
          </a:bodyPr>
          <a:lstStyle/>
          <a:p>
            <a:pPr algn="l">
              <a:lnSpc>
                <a:spcPct val="110000"/>
              </a:lnSpc>
              <a:spcAft>
                <a:spcPts val="0"/>
              </a:spcAft>
            </a:pPr>
            <a:r>
              <a:rPr sz="2400" b="0">
                <a:solidFill>
                  <a:srgbClr val="C9D6EA"/>
                </a:solidFill>
                <a:latin typeface="Calibri"/>
              </a:rPr>
              <a:t>A Claude Code skill for template-faithful decks without the AI tells</a:t>
            </a:r>
          </a:p>
        </p:txBody>
      </p:sp>
      <p:sp>
        <p:nvSpPr>
          <p:cNvPr id="4" name="TextBox 3"/>
          <p:cNvSpPr txBox="1"/>
          <p:nvPr/>
        </p:nvSpPr>
        <p:spPr>
          <a:xfrm>
            <a:off x="548640" y="4937760"/>
            <a:ext cx="6949440" cy="1280160"/>
          </a:xfrm>
          <a:prstGeom prst="rect">
            <a:avLst/>
          </a:prstGeom>
          <a:noFill/>
        </p:spPr>
        <p:txBody>
          <a:bodyPr wrap="square" anchor="t" lIns="45720" rIns="45720" tIns="27432" bIns="27432">
            <a:spAutoFit/>
          </a:bodyPr>
          <a:lstStyle/>
          <a:p>
            <a:pPr algn="l">
              <a:lnSpc>
                <a:spcPct val="110000"/>
              </a:lnSpc>
              <a:spcAft>
                <a:spcPts val="400"/>
              </a:spcAft>
            </a:pPr>
            <a:r>
              <a:rPr sz="1400" b="0">
                <a:solidFill>
                  <a:srgbClr val="C9D6EA"/>
                </a:solidFill>
                <a:latin typeface="Calibri"/>
              </a:rPr>
              <a:t>Levente Csikor</a:t>
            </a:r>
          </a:p>
          <a:p>
            <a:pPr algn="l">
              <a:lnSpc>
                <a:spcPct val="110000"/>
              </a:lnSpc>
              <a:spcAft>
                <a:spcPts val="400"/>
              </a:spcAft>
            </a:pPr>
            <a:r>
              <a:rPr sz="1400" b="0">
                <a:solidFill>
                  <a:srgbClr val="C9D6EA"/>
                </a:solidFill>
                <a:latin typeface="Calibri"/>
              </a:rPr>
              <a:t>19 October 2026</a:t>
            </a:r>
          </a:p>
          <a:p>
            <a:pPr algn="l">
              <a:lnSpc>
                <a:spcPct val="110000"/>
              </a:lnSpc>
              <a:spcAft>
                <a:spcPts val="400"/>
              </a:spcAft>
            </a:pPr>
            <a:r>
              <a:rPr sz="1400" b="0">
                <a:solidFill>
                  <a:srgbClr val="C9D6EA"/>
                </a:solidFill>
                <a:latin typeface="Calibri"/>
              </a:rPr>
              <a:t>github.com/cslev/skillet</a:t>
            </a:r>
          </a:p>
        </p:txBody>
      </p:sp>
      <p:sp>
        <p:nvSpPr>
          <p:cNvPr id="5" name="Rectangle 4"/>
          <p:cNvSpPr/>
          <p:nvPr/>
        </p:nvSpPr>
        <p:spPr>
          <a:xfrm>
            <a:off x="8138160" y="0"/>
            <a:ext cx="4053535" cy="6858000"/>
          </a:xfrm>
          <a:prstGeom prst="rect">
            <a:avLst/>
          </a:prstGeom>
          <a:solidFill>
            <a:srgbClr val="FFFFFF"/>
          </a:solidFill>
          <a:ln>
            <a:noFill/>
          </a:ln>
          <a:effectLst/>
        </p:spPr>
        <p:txBody>
          <a:bodyPr rtlCol="0" anchor="ctr"/>
          <a:lstStyle/>
          <a:p>
            <a:pPr algn="ctr"/>
          </a:p>
        </p:txBody>
      </p:sp>
      <p:pic>
        <p:nvPicPr>
          <p:cNvPr id="6" name="Picture 5" descr="cslev_logo.png"/>
          <p:cNvPicPr>
            <a:picLocks noChangeAspect="1"/>
          </p:cNvPicPr>
          <p:nvPr/>
        </p:nvPicPr>
        <p:blipFill>
          <a:blip r:embed="rId2"/>
          <a:stretch>
            <a:fillRect/>
          </a:stretch>
        </p:blipFill>
        <p:spPr>
          <a:xfrm>
            <a:off x="8701887" y="1965960"/>
            <a:ext cx="2926080" cy="2926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Generated decks ignore your template and look generated</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2</a:t>
            </a:r>
          </a:p>
        </p:txBody>
      </p:sp>
      <p:sp>
        <p:nvSpPr>
          <p:cNvPr id="7" name="TextBox 6"/>
          <p:cNvSpPr txBox="1"/>
          <p:nvPr/>
        </p:nvSpPr>
        <p:spPr>
          <a:xfrm>
            <a:off x="548640" y="1691640"/>
            <a:ext cx="822960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400" b="0">
                <a:solidFill>
                  <a:srgbClr val="1F2328"/>
                </a:solidFill>
                <a:latin typeface="Calibri"/>
              </a:rPr>
              <a:t>Slides arrive in a default style, not your company template</a:t>
            </a:r>
          </a:p>
          <a:p>
            <a:pPr algn="l" marL="201168" indent="-201168">
              <a:lnSpc>
                <a:spcPct val="110000"/>
              </a:lnSpc>
              <a:spcAft>
                <a:spcPts val="1400"/>
              </a:spcAft>
              <a:buChar char="•"/>
            </a:pPr>
            <a:r>
              <a:rPr sz="2400" b="0">
                <a:solidFill>
                  <a:srgbClr val="1F2328"/>
                </a:solidFill>
                <a:latin typeface="Calibri"/>
              </a:rPr>
              <a:t>Titles name a topic instead of making a point</a:t>
            </a:r>
          </a:p>
          <a:p>
            <a:pPr algn="l" marL="201168" indent="-201168">
              <a:lnSpc>
                <a:spcPct val="110000"/>
              </a:lnSpc>
              <a:spcAft>
                <a:spcPts val="1400"/>
              </a:spcAft>
              <a:buChar char="•"/>
            </a:pPr>
            <a:r>
              <a:rPr sz="2400" b="0">
                <a:solidFill>
                  <a:srgbClr val="1F2328"/>
                </a:solidFill>
                <a:latin typeface="Calibri"/>
              </a:rPr>
              <a:t>Bullet lists come in threes, with the same rhythm on every slide</a:t>
            </a:r>
          </a:p>
          <a:p>
            <a:pPr algn="l" marL="201168" indent="-201168">
              <a:lnSpc>
                <a:spcPct val="110000"/>
              </a:lnSpc>
              <a:spcAft>
                <a:spcPts val="1400"/>
              </a:spcAft>
              <a:buChar char="•"/>
            </a:pPr>
            <a:r>
              <a:rPr sz="2400" b="0">
                <a:solidFill>
                  <a:srgbClr val="1F2328"/>
                </a:solidFill>
                <a:latin typeface="Calibri"/>
              </a:rPr>
              <a:t>Gaps in the source get filled with plausible facts</a:t>
            </a:r>
          </a:p>
          <a:p>
            <a:pPr algn="l" marL="201168" indent="-201168">
              <a:lnSpc>
                <a:spcPct val="110000"/>
              </a:lnSpc>
              <a:spcAft>
                <a:spcPts val="1400"/>
              </a:spcAft>
              <a:buChar char="•"/>
            </a:pPr>
            <a:r>
              <a:rPr sz="2400" b="0">
                <a:solidFill>
                  <a:srgbClr val="1F2328"/>
                </a:solidFill>
                <a:latin typeface="Calibri"/>
              </a:rPr>
              <a:t>Fixing one slide means regenerating the whole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The skill takes an outline and returns a deck, nothing more</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3</a:t>
            </a:r>
          </a:p>
        </p:txBody>
      </p:sp>
      <p:sp>
        <p:nvSpPr>
          <p:cNvPr id="7" name="TextBox 6"/>
          <p:cNvSpPr txBox="1"/>
          <p:nvPr/>
        </p:nvSpPr>
        <p:spPr>
          <a:xfrm>
            <a:off x="548640" y="1691640"/>
            <a:ext cx="475488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Input: outline.md, required</a:t>
            </a:r>
          </a:p>
          <a:p>
            <a:pPr algn="l" marL="201168" indent="-201168">
              <a:lnSpc>
                <a:spcPct val="110000"/>
              </a:lnSpc>
              <a:spcAft>
                <a:spcPts val="1200"/>
              </a:spcAft>
              <a:buChar char="•"/>
            </a:pPr>
            <a:r>
              <a:rPr sz="2200" b="0">
                <a:solidFill>
                  <a:srgbClr val="1F2328"/>
                </a:solidFill>
                <a:latin typeface="Calibri"/>
              </a:rPr>
              <a:t>Input: your template .pptx, optional</a:t>
            </a:r>
          </a:p>
          <a:p>
            <a:pPr algn="l" marL="201168" indent="-201168">
              <a:lnSpc>
                <a:spcPct val="110000"/>
              </a:lnSpc>
              <a:spcAft>
                <a:spcPts val="1200"/>
              </a:spcAft>
              <a:buChar char="•"/>
            </a:pPr>
            <a:r>
              <a:rPr sz="2200" b="0">
                <a:solidFill>
                  <a:srgbClr val="1F2328"/>
                </a:solidFill>
                <a:latin typeface="Calibri"/>
              </a:rPr>
              <a:t>Input: your logo, optional</a:t>
            </a:r>
          </a:p>
          <a:p>
            <a:pPr algn="l" marL="201168" indent="-201168">
              <a:lnSpc>
                <a:spcPct val="110000"/>
              </a:lnSpc>
              <a:spcAft>
                <a:spcPts val="1200"/>
              </a:spcAft>
              <a:buChar char="•"/>
            </a:pPr>
            <a:r>
              <a:rPr sz="2200" b="0">
                <a:solidFill>
                  <a:srgbClr val="1F2328"/>
                </a:solidFill>
                <a:latin typeface="Calibri"/>
              </a:rPr>
              <a:t>Output: a .pptx in decks, ending in a Thank-you slide</a:t>
            </a:r>
          </a:p>
        </p:txBody>
      </p:sp>
      <p:sp>
        <p:nvSpPr>
          <p:cNvPr id="8" name="Rectangle 7"/>
          <p:cNvSpPr/>
          <p:nvPr/>
        </p:nvSpPr>
        <p:spPr>
          <a:xfrm>
            <a:off x="5760720" y="1691640"/>
            <a:ext cx="5852160" cy="4297680"/>
          </a:xfrm>
          <a:prstGeom prst="rect">
            <a:avLst/>
          </a:prstGeom>
          <a:noFill/>
          <a:ln w="12700">
            <a:solidFill>
              <a:srgbClr val="57606A"/>
            </a:solidFill>
          </a:ln>
          <a:effectLst/>
        </p:spPr>
        <p:txBody>
          <a:bodyPr rtlCol="0" anchor="ctr" wrap="square" lIns="137160" rIns="137160"/>
          <a:lstStyle/>
          <a:p>
            <a:pPr algn="ctr"/>
            <a:r>
              <a:rPr sz="1600">
                <a:solidFill>
                  <a:srgbClr val="57606A"/>
                </a:solidFill>
                <a:latin typeface="Calibri"/>
              </a:rPr>
              <a:t>[ DIAGRAM PLACEHOLDER ]</a:t>
            </a:r>
          </a:p>
          <a:p>
            <a:pPr algn="ctr"/>
            <a:r>
              <a:rPr sz="1400">
                <a:solidFill>
                  <a:srgbClr val="57606A"/>
                </a:solidFill>
                <a:latin typeface="Calibri"/>
              </a:rPr>
              <a:t>outline, template and logo flow through the skill into a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828800"/>
            <a:ext cx="7619695" cy="1828800"/>
          </a:xfrm>
          <a:prstGeom prst="rect">
            <a:avLst/>
          </a:prstGeom>
          <a:noFill/>
        </p:spPr>
        <p:txBody>
          <a:bodyPr wrap="square" anchor="b" lIns="45720" rIns="45720" tIns="27432" bIns="27432">
            <a:spAutoFit/>
          </a:bodyPr>
          <a:lstStyle/>
          <a:p>
            <a:pPr algn="l">
              <a:lnSpc>
                <a:spcPct val="110000"/>
              </a:lnSpc>
              <a:spcAft>
                <a:spcPts val="0"/>
              </a:spcAft>
            </a:pPr>
            <a:r>
              <a:rPr sz="5600" b="1">
                <a:solidFill>
                  <a:srgbClr val="FFFFFF"/>
                </a:solidFill>
                <a:latin typeface="Calibri"/>
              </a:rPr>
              <a:t>Built on your template</a:t>
            </a:r>
          </a:p>
        </p:txBody>
      </p:sp>
      <p:sp>
        <p:nvSpPr>
          <p:cNvPr id="3" name="TextBox 2"/>
          <p:cNvSpPr txBox="1"/>
          <p:nvPr/>
        </p:nvSpPr>
        <p:spPr>
          <a:xfrm>
            <a:off x="548640" y="3794760"/>
            <a:ext cx="7619695" cy="822960"/>
          </a:xfrm>
          <a:prstGeom prst="rect">
            <a:avLst/>
          </a:prstGeom>
          <a:noFill/>
        </p:spPr>
        <p:txBody>
          <a:bodyPr wrap="square" anchor="t" lIns="45720" rIns="45720" tIns="27432" bIns="27432">
            <a:spAutoFit/>
          </a:bodyPr>
          <a:lstStyle/>
          <a:p>
            <a:pPr algn="l">
              <a:lnSpc>
                <a:spcPct val="110000"/>
              </a:lnSpc>
              <a:spcAft>
                <a:spcPts val="0"/>
              </a:spcAft>
            </a:pPr>
            <a:r>
              <a:rPr sz="2400" b="0">
                <a:solidFill>
                  <a:srgbClr val="C9D6EA"/>
                </a:solidFill>
                <a:latin typeface="Calibri"/>
              </a:rPr>
              <a:t>Interpreting a company template, layout by layout</a:t>
            </a:r>
          </a:p>
        </p:txBody>
      </p:sp>
      <p:pic>
        <p:nvPicPr>
          <p:cNvPr id="4" name="Picture 3" descr="layout-template.png"/>
          <p:cNvPicPr>
            <a:picLocks noChangeAspect="1"/>
          </p:cNvPicPr>
          <p:nvPr/>
        </p:nvPicPr>
        <p:blipFill>
          <a:blip r:embed="rId2"/>
          <a:stretch>
            <a:fillRect/>
          </a:stretch>
        </p:blipFill>
        <p:spPr>
          <a:xfrm>
            <a:off x="8257782" y="1874519"/>
            <a:ext cx="3112945" cy="31089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The skill labels every layout in your template</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5</a:t>
            </a:r>
          </a:p>
        </p:txBody>
      </p:sp>
      <p:sp>
        <p:nvSpPr>
          <p:cNvPr id="7" name="TextBox 6"/>
          <p:cNvSpPr txBox="1"/>
          <p:nvPr/>
        </p:nvSpPr>
        <p:spPr>
          <a:xfrm>
            <a:off x="548640" y="1600200"/>
            <a:ext cx="8229600" cy="1188720"/>
          </a:xfrm>
          <a:prstGeom prst="rect">
            <a:avLst/>
          </a:prstGeom>
          <a:noFill/>
        </p:spPr>
        <p:txBody>
          <a:bodyPr wrap="square" anchor="t" lIns="45720" rIns="45720" tIns="27432" bIns="27432">
            <a:spAutoFit/>
          </a:bodyPr>
          <a:lstStyle/>
          <a:p>
            <a:pPr algn="l" marL="201168" indent="-201168">
              <a:lnSpc>
                <a:spcPct val="110000"/>
              </a:lnSpc>
              <a:spcAft>
                <a:spcPts val="800"/>
              </a:spcAft>
              <a:buChar char="•"/>
            </a:pPr>
            <a:r>
              <a:rPr sz="2200" b="0">
                <a:solidFill>
                  <a:srgbClr val="1F2328"/>
                </a:solidFill>
                <a:latin typeface="Calibri"/>
              </a:rPr>
              <a:t>One script reports fonts, colours, logo and every named layout</a:t>
            </a:r>
          </a:p>
          <a:p>
            <a:pPr algn="l" marL="201168" indent="-201168">
              <a:lnSpc>
                <a:spcPct val="110000"/>
              </a:lnSpc>
              <a:spcAft>
                <a:spcPts val="800"/>
              </a:spcAft>
              <a:buChar char="•"/>
            </a:pPr>
            <a:r>
              <a:rPr sz="2200" b="0">
                <a:solidFill>
                  <a:srgbClr val="1F2328"/>
                </a:solidFill>
                <a:latin typeface="Calibri"/>
              </a:rPr>
              <a:t>The same template always gives the same analysis</a:t>
            </a:r>
          </a:p>
        </p:txBody>
      </p:sp>
      <p:graphicFrame>
        <p:nvGraphicFramePr>
          <p:cNvPr id="8" name="Table 7"/>
          <p:cNvGraphicFramePr>
            <a:graphicFrameLocks noGrp="1"/>
          </p:cNvGraphicFramePr>
          <p:nvPr/>
        </p:nvGraphicFramePr>
        <p:xfrm>
          <a:off x="548640" y="2880360"/>
          <a:ext cx="11064240" cy="2743200"/>
        </p:xfrm>
        <a:graphic>
          <a:graphicData uri="http://schemas.openxmlformats.org/drawingml/2006/table">
            <a:tbl>
              <a:tblPr firstRow="1" bandRow="1">
                <a:tableStyleId>{5C22544A-7EE6-4342-B048-85BDC9FD1C3A}</a:tableStyleId>
              </a:tblPr>
              <a:tblGrid>
                <a:gridCol w="4206240"/>
                <a:gridCol w="4114800"/>
                <a:gridCol w="2743200"/>
              </a:tblGrid>
              <a:tr h="457200">
                <a:tc>
                  <a:txBody>
                    <a:bodyPr/>
                    <a:lstStyle/>
                    <a:p>
                      <a:r>
                        <a:rPr sz="1800" b="1">
                          <a:solidFill>
                            <a:srgbClr val="FFFFFF"/>
                          </a:solidFill>
                          <a:latin typeface="Calibri"/>
                        </a:rPr>
                        <a:t>Layout name</a:t>
                      </a:r>
                    </a:p>
                  </a:txBody>
                  <a:tcPr anchor="ctr">
                    <a:solidFill>
                      <a:srgbClr val="173538"/>
                    </a:solidFill>
                  </a:tcPr>
                </a:tc>
                <a:tc>
                  <a:txBody>
                    <a:bodyPr/>
                    <a:lstStyle/>
                    <a:p>
                      <a:r>
                        <a:rPr sz="1800" b="1">
                          <a:solidFill>
                            <a:srgbClr val="FFFFFF"/>
                          </a:solidFill>
                          <a:latin typeface="Calibri"/>
                        </a:rPr>
                        <a:t>Role the skill assigns</a:t>
                      </a:r>
                    </a:p>
                  </a:txBody>
                  <a:tcPr anchor="ctr">
                    <a:solidFill>
                      <a:srgbClr val="173538"/>
                    </a:solidFill>
                  </a:tcPr>
                </a:tc>
                <a:tc>
                  <a:txBody>
                    <a:bodyPr/>
                    <a:lstStyle/>
                    <a:p>
                      <a:r>
                        <a:rPr sz="1800" b="1">
                          <a:solidFill>
                            <a:srgbClr val="FFFFFF"/>
                          </a:solidFill>
                          <a:latin typeface="Calibri"/>
                        </a:rPr>
                        <a:t>Content tag</a:t>
                      </a:r>
                    </a:p>
                  </a:txBody>
                  <a:tcPr anchor="ctr">
                    <a:solidFill>
                      <a:srgbClr val="173538"/>
                    </a:solidFill>
                  </a:tcPr>
                </a:tc>
              </a:tr>
              <a:tr h="457200">
                <a:tc>
                  <a:txBody>
                    <a:bodyPr/>
                    <a:lstStyle/>
                    <a:p>
                      <a:r>
                        <a:rPr sz="1800" b="0">
                          <a:solidFill>
                            <a:srgbClr val="1F2328"/>
                          </a:solidFill>
                          <a:latin typeface="Calibri"/>
                        </a:rPr>
                        <a:t>Cover 1</a:t>
                      </a:r>
                    </a:p>
                  </a:txBody>
                  <a:tcPr anchor="ctr">
                    <a:solidFill>
                      <a:srgbClr val="FFFFFF"/>
                    </a:solidFill>
                  </a:tcPr>
                </a:tc>
                <a:tc>
                  <a:txBody>
                    <a:bodyPr/>
                    <a:lstStyle/>
                    <a:p>
                      <a:r>
                        <a:rPr sz="1800" b="0">
                          <a:solidFill>
                            <a:srgbClr val="1F2328"/>
                          </a:solidFill>
                          <a:latin typeface="Calibri"/>
                        </a:rPr>
                        <a:t>title</a:t>
                      </a:r>
                    </a:p>
                  </a:txBody>
                  <a:tcPr anchor="ctr">
                    <a:solidFill>
                      <a:srgbClr val="FFFFFF"/>
                    </a:solidFill>
                  </a:tcPr>
                </a:tc>
                <a:tc>
                  <a:txBody>
                    <a:bodyPr/>
                    <a:lstStyle/>
                    <a:p>
                      <a:r>
                        <a:rPr sz="1800" b="0">
                          <a:solidFill>
                            <a:srgbClr val="1F2328"/>
                          </a:solidFill>
                          <a:latin typeface="Calibri"/>
                        </a:rPr>
                        <a:t>none</a:t>
                      </a:r>
                    </a:p>
                  </a:txBody>
                  <a:tcPr anchor="ctr">
                    <a:solidFill>
                      <a:srgbClr val="FFFFFF"/>
                    </a:solidFill>
                  </a:tcPr>
                </a:tc>
              </a:tr>
              <a:tr h="457200">
                <a:tc>
                  <a:txBody>
                    <a:bodyPr/>
                    <a:lstStyle/>
                    <a:p>
                      <a:r>
                        <a:rPr sz="1800" b="0">
                          <a:solidFill>
                            <a:srgbClr val="1F2328"/>
                          </a:solidFill>
                          <a:latin typeface="Calibri"/>
                        </a:rPr>
                        <a:t>Divider 1A</a:t>
                      </a:r>
                    </a:p>
                  </a:txBody>
                  <a:tcPr anchor="ctr">
                    <a:solidFill>
                      <a:srgbClr val="F1F3F5"/>
                    </a:solidFill>
                  </a:tcPr>
                </a:tc>
                <a:tc>
                  <a:txBody>
                    <a:bodyPr/>
                    <a:lstStyle/>
                    <a:p>
                      <a:r>
                        <a:rPr sz="1800" b="0">
                          <a:solidFill>
                            <a:srgbClr val="1F2328"/>
                          </a:solidFill>
                          <a:latin typeface="Calibri"/>
                        </a:rPr>
                        <a:t>divider</a:t>
                      </a:r>
                    </a:p>
                  </a:txBody>
                  <a:tcPr anchor="ctr">
                    <a:solidFill>
                      <a:srgbClr val="F1F3F5"/>
                    </a:solidFill>
                  </a:tcPr>
                </a:tc>
                <a:tc>
                  <a:txBody>
                    <a:bodyPr/>
                    <a:lstStyle/>
                    <a:p>
                      <a:r>
                        <a:rPr sz="1800" b="0">
                          <a:solidFill>
                            <a:srgbClr val="1F2328"/>
                          </a:solidFill>
                          <a:latin typeface="Calibri"/>
                        </a:rPr>
                        <a:t>none</a:t>
                      </a:r>
                    </a:p>
                  </a:txBody>
                  <a:tcPr anchor="ctr">
                    <a:solidFill>
                      <a:srgbClr val="F1F3F5"/>
                    </a:solidFill>
                  </a:tcPr>
                </a:tc>
              </a:tr>
              <a:tr h="457200">
                <a:tc>
                  <a:txBody>
                    <a:bodyPr/>
                    <a:lstStyle/>
                    <a:p>
                      <a:r>
                        <a:rPr sz="1800" b="0">
                          <a:solidFill>
                            <a:srgbClr val="1F2328"/>
                          </a:solidFill>
                          <a:latin typeface="Calibri"/>
                        </a:rPr>
                        <a:t>Content 1: Paragraph</a:t>
                      </a:r>
                    </a:p>
                  </a:txBody>
                  <a:tcPr anchor="ctr">
                    <a:solidFill>
                      <a:srgbClr val="FFFFFF"/>
                    </a:solidFill>
                  </a:tcPr>
                </a:tc>
                <a:tc>
                  <a:txBody>
                    <a:bodyPr/>
                    <a:lstStyle/>
                    <a:p>
                      <a:r>
                        <a:rPr sz="1800" b="0">
                          <a:solidFill>
                            <a:srgbClr val="1F2328"/>
                          </a:solidFill>
                          <a:latin typeface="Calibri"/>
                        </a:rPr>
                        <a:t>content</a:t>
                      </a:r>
                    </a:p>
                  </a:txBody>
                  <a:tcPr anchor="ctr">
                    <a:solidFill>
                      <a:srgbClr val="FFFFFF"/>
                    </a:solidFill>
                  </a:tcPr>
                </a:tc>
                <a:tc>
                  <a:txBody>
                    <a:bodyPr/>
                    <a:lstStyle/>
                    <a:p>
                      <a:r>
                        <a:rPr sz="1800" b="0">
                          <a:solidFill>
                            <a:srgbClr val="1F2328"/>
                          </a:solidFill>
                          <a:latin typeface="Calibri"/>
                        </a:rPr>
                        <a:t>paragraph</a:t>
                      </a:r>
                    </a:p>
                  </a:txBody>
                  <a:tcPr anchor="ctr">
                    <a:solidFill>
                      <a:srgbClr val="FFFFFF"/>
                    </a:solidFill>
                  </a:tcPr>
                </a:tc>
              </a:tr>
              <a:tr h="457200">
                <a:tc>
                  <a:txBody>
                    <a:bodyPr/>
                    <a:lstStyle/>
                    <a:p>
                      <a:r>
                        <a:rPr sz="1800" b="0">
                          <a:solidFill>
                            <a:srgbClr val="1F2328"/>
                          </a:solidFill>
                          <a:latin typeface="Calibri"/>
                        </a:rPr>
                        <a:t>Content 4: Table</a:t>
                      </a:r>
                    </a:p>
                  </a:txBody>
                  <a:tcPr anchor="ctr">
                    <a:solidFill>
                      <a:srgbClr val="F1F3F5"/>
                    </a:solidFill>
                  </a:tcPr>
                </a:tc>
                <a:tc>
                  <a:txBody>
                    <a:bodyPr/>
                    <a:lstStyle/>
                    <a:p>
                      <a:r>
                        <a:rPr sz="1800" b="0">
                          <a:solidFill>
                            <a:srgbClr val="1F2328"/>
                          </a:solidFill>
                          <a:latin typeface="Calibri"/>
                        </a:rPr>
                        <a:t>content</a:t>
                      </a:r>
                    </a:p>
                  </a:txBody>
                  <a:tcPr anchor="ctr">
                    <a:solidFill>
                      <a:srgbClr val="F1F3F5"/>
                    </a:solidFill>
                  </a:tcPr>
                </a:tc>
                <a:tc>
                  <a:txBody>
                    <a:bodyPr/>
                    <a:lstStyle/>
                    <a:p>
                      <a:r>
                        <a:rPr sz="1800" b="0">
                          <a:solidFill>
                            <a:srgbClr val="1F2328"/>
                          </a:solidFill>
                          <a:latin typeface="Calibri"/>
                        </a:rPr>
                        <a:t>table</a:t>
                      </a:r>
                    </a:p>
                  </a:txBody>
                  <a:tcPr anchor="ctr">
                    <a:solidFill>
                      <a:srgbClr val="F1F3F5"/>
                    </a:solidFill>
                  </a:tcPr>
                </a:tc>
              </a:tr>
              <a:tr h="457200">
                <a:tc>
                  <a:txBody>
                    <a:bodyPr/>
                    <a:lstStyle/>
                    <a:p>
                      <a:r>
                        <a:rPr sz="1800" b="0">
                          <a:solidFill>
                            <a:srgbClr val="1F2328"/>
                          </a:solidFill>
                          <a:latin typeface="Calibri"/>
                        </a:rPr>
                        <a:t>Closing 1</a:t>
                      </a:r>
                    </a:p>
                  </a:txBody>
                  <a:tcPr anchor="ctr">
                    <a:solidFill>
                      <a:srgbClr val="FFFFFF"/>
                    </a:solidFill>
                  </a:tcPr>
                </a:tc>
                <a:tc>
                  <a:txBody>
                    <a:bodyPr/>
                    <a:lstStyle/>
                    <a:p>
                      <a:r>
                        <a:rPr sz="1800" b="0">
                          <a:solidFill>
                            <a:srgbClr val="1F2328"/>
                          </a:solidFill>
                          <a:latin typeface="Calibri"/>
                        </a:rPr>
                        <a:t>closing</a:t>
                      </a:r>
                    </a:p>
                  </a:txBody>
                  <a:tcPr anchor="ctr">
                    <a:solidFill>
                      <a:srgbClr val="FFFFFF"/>
                    </a:solidFill>
                  </a:tcPr>
                </a:tc>
                <a:tc>
                  <a:txBody>
                    <a:bodyPr/>
                    <a:lstStyle/>
                    <a:p>
                      <a:r>
                        <a:rPr sz="1800" b="0">
                          <a:solidFill>
                            <a:srgbClr val="1F2328"/>
                          </a:solidFill>
                          <a:latin typeface="Calibri"/>
                        </a:rPr>
                        <a:t>none</a:t>
                      </a:r>
                    </a:p>
                  </a:txBody>
                  <a:tcPr anchor="ctr">
                    <a:solidFill>
                      <a:srgbClr val="FFFFFF"/>
                    </a:solidFill>
                  </a:tcPr>
                </a:tc>
              </a:tr>
            </a:tbl>
          </a:graphicData>
        </a:graphic>
      </p:graphicFrame>
      <p:sp>
        <p:nvSpPr>
          <p:cNvPr id="9" name="TextBox 8"/>
          <p:cNvSpPr txBox="1"/>
          <p:nvPr/>
        </p:nvSpPr>
        <p:spPr>
          <a:xfrm>
            <a:off x="548640" y="6053328"/>
            <a:ext cx="10515600" cy="292608"/>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57606A"/>
                </a:solidFill>
                <a:latin typeface="Calibri"/>
              </a:rPr>
              <a:t>Source: style_from_reference.py run on a 29-layout corporate template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Every slide comes from a real layout, never an imitation</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6</a:t>
            </a:r>
          </a:p>
        </p:txBody>
      </p:sp>
      <p:sp>
        <p:nvSpPr>
          <p:cNvPr id="7" name="TextBox 6"/>
          <p:cNvSpPr txBox="1"/>
          <p:nvPr/>
        </p:nvSpPr>
        <p:spPr>
          <a:xfrm>
            <a:off x="548640" y="1691640"/>
            <a:ext cx="1051560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Strict layout reuse: each slide instantiates one of your template's own layouts</a:t>
            </a:r>
          </a:p>
          <a:p>
            <a:pPr algn="l" marL="201168" indent="-201168">
              <a:lnSpc>
                <a:spcPct val="110000"/>
              </a:lnSpc>
              <a:spcAft>
                <a:spcPts val="1200"/>
              </a:spcAft>
              <a:buChar char="•"/>
            </a:pPr>
            <a:r>
              <a:rPr sz="2200" b="0">
                <a:solidFill>
                  <a:srgbClr val="1F2328"/>
                </a:solidFill>
                <a:latin typeface="Calibri"/>
              </a:rPr>
              <a:t>Masters, placeholders, logo and artwork stay exactly as designed</a:t>
            </a:r>
          </a:p>
          <a:p>
            <a:pPr algn="l" marL="201168" indent="-201168">
              <a:lnSpc>
                <a:spcPct val="110000"/>
              </a:lnSpc>
              <a:spcAft>
                <a:spcPts val="1200"/>
              </a:spcAft>
              <a:buChar char="•"/>
            </a:pPr>
            <a:r>
              <a:rPr sz="2200" b="0">
                <a:solidFill>
                  <a:srgbClr val="1F2328"/>
                </a:solidFill>
                <a:latin typeface="Calibri"/>
              </a:rPr>
              <a:t>Charts and tables are native PowerPoint objects, built from the outline's numbers</a:t>
            </a:r>
          </a:p>
          <a:p>
            <a:pPr algn="l" marL="201168" indent="-201168">
              <a:lnSpc>
                <a:spcPct val="110000"/>
              </a:lnSpc>
              <a:spcAft>
                <a:spcPts val="1200"/>
              </a:spcAft>
              <a:buChar char="•"/>
            </a:pPr>
            <a:r>
              <a:rPr sz="2200" b="0">
                <a:solidFill>
                  <a:srgbClr val="1F2328"/>
                </a:solidFill>
                <a:latin typeface="Calibri"/>
              </a:rPr>
              <a:t>Style only: a loose example deck gives fonts, colours and logo</a:t>
            </a:r>
          </a:p>
          <a:p>
            <a:pPr algn="l" marL="201168" indent="-201168">
              <a:lnSpc>
                <a:spcPct val="110000"/>
              </a:lnSpc>
              <a:spcAft>
                <a:spcPts val="1200"/>
              </a:spcAft>
              <a:buChar char="•"/>
            </a:pPr>
            <a:r>
              <a:rPr sz="2200" b="0">
                <a:solidFill>
                  <a:srgbClr val="1F2328"/>
                </a:solidFill>
                <a:latin typeface="Calibri"/>
              </a:rPr>
              <a:t>You approve the slide-to-layout table before anything is built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Layout names can lie, so the skill renders them first</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7</a:t>
            </a:r>
          </a:p>
        </p:txBody>
      </p:sp>
      <p:sp>
        <p:nvSpPr>
          <p:cNvPr id="7" name="TextBox 6"/>
          <p:cNvSpPr txBox="1"/>
          <p:nvPr/>
        </p:nvSpPr>
        <p:spPr>
          <a:xfrm>
            <a:off x="548640" y="1691640"/>
            <a:ext cx="960120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400" b="0">
                <a:solidFill>
                  <a:srgbClr val="1F2328"/>
                </a:solidFill>
                <a:latin typeface="Calibri"/>
              </a:rPr>
              <a:t>A cover layout may carry a photo baked into the layout</a:t>
            </a:r>
          </a:p>
          <a:p>
            <a:pPr algn="l" marL="201168" indent="-201168">
              <a:lnSpc>
                <a:spcPct val="110000"/>
              </a:lnSpc>
              <a:spcAft>
                <a:spcPts val="1400"/>
              </a:spcAft>
              <a:buChar char="•"/>
            </a:pPr>
            <a:r>
              <a:rPr sz="2400" b="0">
                <a:solidFill>
                  <a:srgbClr val="1F2328"/>
                </a:solidFill>
                <a:latin typeface="Calibri"/>
              </a:rPr>
              <a:t>A closing layout may carry fixed Thank-you text</a:t>
            </a:r>
          </a:p>
          <a:p>
            <a:pPr algn="l" marL="201168" indent="-201168">
              <a:lnSpc>
                <a:spcPct val="110000"/>
              </a:lnSpc>
              <a:spcAft>
                <a:spcPts val="1400"/>
              </a:spcAft>
              <a:buChar char="•"/>
            </a:pPr>
            <a:r>
              <a:rPr sz="2400" b="0">
                <a:solidFill>
                  <a:srgbClr val="1F2328"/>
                </a:solidFill>
                <a:latin typeface="Calibri"/>
              </a:rPr>
              <a:t>A text placeholder can secretly be a coloured panel</a:t>
            </a:r>
          </a:p>
          <a:p>
            <a:pPr algn="l" marL="201168" indent="-201168">
              <a:lnSpc>
                <a:spcPct val="110000"/>
              </a:lnSpc>
              <a:spcAft>
                <a:spcPts val="1400"/>
              </a:spcAft>
              <a:buChar char="•"/>
            </a:pPr>
            <a:r>
              <a:rPr sz="2400" b="0">
                <a:solidFill>
                  <a:srgbClr val="1F2328"/>
                </a:solidFill>
                <a:latin typeface="Calibri"/>
              </a:rPr>
              <a:t>Unfilled placeholders print Click to add text</a:t>
            </a:r>
          </a:p>
          <a:p>
            <a:pPr algn="l" marL="201168" indent="-201168">
              <a:lnSpc>
                <a:spcPct val="110000"/>
              </a:lnSpc>
              <a:spcAft>
                <a:spcPts val="1400"/>
              </a:spcAft>
              <a:buChar char="•"/>
            </a:pPr>
            <a:r>
              <a:rPr sz="2400" b="0">
                <a:solidFill>
                  <a:srgbClr val="1F2328"/>
                </a:solidFill>
                <a:latin typeface="Calibri"/>
              </a:rPr>
              <a:t>Setting a title's text can drop its formatting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828800"/>
            <a:ext cx="7619695" cy="1828800"/>
          </a:xfrm>
          <a:prstGeom prst="rect">
            <a:avLst/>
          </a:prstGeom>
          <a:noFill/>
        </p:spPr>
        <p:txBody>
          <a:bodyPr wrap="square" anchor="b" lIns="45720" rIns="45720" tIns="27432" bIns="27432">
            <a:spAutoFit/>
          </a:bodyPr>
          <a:lstStyle/>
          <a:p>
            <a:pPr algn="l">
              <a:lnSpc>
                <a:spcPct val="110000"/>
              </a:lnSpc>
              <a:spcAft>
                <a:spcPts val="0"/>
              </a:spcAft>
            </a:pPr>
            <a:r>
              <a:rPr sz="5600" b="1">
                <a:solidFill>
                  <a:srgbClr val="FFFFFF"/>
                </a:solidFill>
                <a:latin typeface="Calibri"/>
              </a:rPr>
              <a:t>Held to anti-slop rules</a:t>
            </a:r>
          </a:p>
        </p:txBody>
      </p:sp>
      <p:sp>
        <p:nvSpPr>
          <p:cNvPr id="3" name="TextBox 2"/>
          <p:cNvSpPr txBox="1"/>
          <p:nvPr/>
        </p:nvSpPr>
        <p:spPr>
          <a:xfrm>
            <a:off x="548640" y="3794760"/>
            <a:ext cx="7619695" cy="822960"/>
          </a:xfrm>
          <a:prstGeom prst="rect">
            <a:avLst/>
          </a:prstGeom>
          <a:noFill/>
        </p:spPr>
        <p:txBody>
          <a:bodyPr wrap="square" anchor="t" lIns="45720" rIns="45720" tIns="27432" bIns="27432">
            <a:spAutoFit/>
          </a:bodyPr>
          <a:lstStyle/>
          <a:p>
            <a:pPr algn="l">
              <a:lnSpc>
                <a:spcPct val="110000"/>
              </a:lnSpc>
              <a:spcAft>
                <a:spcPts val="0"/>
              </a:spcAft>
            </a:pPr>
            <a:r>
              <a:rPr sz="2400" b="0">
                <a:solidFill>
                  <a:srgbClr val="C9D6EA"/>
                </a:solidFill>
                <a:latin typeface="Calibri"/>
              </a:rPr>
              <a:t>What stops a deck from looking generated</a:t>
            </a:r>
          </a:p>
        </p:txBody>
      </p:sp>
      <p:pic>
        <p:nvPicPr>
          <p:cNvPr id="4" name="Picture 3" descr="shield-check.png"/>
          <p:cNvPicPr>
            <a:picLocks noChangeAspect="1"/>
          </p:cNvPicPr>
          <p:nvPr/>
        </p:nvPicPr>
        <p:blipFill>
          <a:blip r:embed="rId2"/>
          <a:stretch>
            <a:fillRect/>
          </a:stretch>
        </p:blipFill>
        <p:spPr>
          <a:xfrm>
            <a:off x="8548644" y="1874519"/>
            <a:ext cx="2531220" cy="3108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Titles state the point, not the topic</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9</a:t>
            </a:r>
          </a:p>
        </p:txBody>
      </p:sp>
      <p:sp>
        <p:nvSpPr>
          <p:cNvPr id="7" name="TextBox 6"/>
          <p:cNvSpPr txBox="1"/>
          <p:nvPr/>
        </p:nvSpPr>
        <p:spPr>
          <a:xfrm>
            <a:off x="548640" y="1600200"/>
            <a:ext cx="8229600" cy="1280160"/>
          </a:xfrm>
          <a:prstGeom prst="rect">
            <a:avLst/>
          </a:prstGeom>
          <a:noFill/>
        </p:spPr>
        <p:txBody>
          <a:bodyPr wrap="square" anchor="t" lIns="45720" rIns="45720" tIns="27432" bIns="27432">
            <a:spAutoFit/>
          </a:bodyPr>
          <a:lstStyle/>
          <a:p>
            <a:pPr algn="l" marL="201168" indent="-201168">
              <a:lnSpc>
                <a:spcPct val="110000"/>
              </a:lnSpc>
              <a:spcAft>
                <a:spcPts val="800"/>
              </a:spcAft>
              <a:buChar char="•"/>
            </a:pPr>
            <a:r>
              <a:rPr sz="2200" b="0">
                <a:solidFill>
                  <a:srgbClr val="1F2328"/>
                </a:solidFill>
                <a:latin typeface="Calibri"/>
              </a:rPr>
              <a:t>Titles are short sentences in sentence case, with no ending punctuation</a:t>
            </a:r>
          </a:p>
          <a:p>
            <a:pPr algn="l" marL="201168" indent="-201168">
              <a:lnSpc>
                <a:spcPct val="110000"/>
              </a:lnSpc>
              <a:spcAft>
                <a:spcPts val="800"/>
              </a:spcAft>
              <a:buChar char="•"/>
            </a:pPr>
            <a:r>
              <a:rPr sz="2200" b="0">
                <a:solidFill>
                  <a:srgbClr val="1F2328"/>
                </a:solidFill>
                <a:latin typeface="Calibri"/>
              </a:rPr>
              <a:t>Read in order, the titles tell the story</a:t>
            </a:r>
          </a:p>
        </p:txBody>
      </p:sp>
      <p:graphicFrame>
        <p:nvGraphicFramePr>
          <p:cNvPr id="8" name="Table 7"/>
          <p:cNvGraphicFramePr>
            <a:graphicFrameLocks noGrp="1"/>
          </p:cNvGraphicFramePr>
          <p:nvPr/>
        </p:nvGraphicFramePr>
        <p:xfrm>
          <a:off x="548640" y="3108960"/>
          <a:ext cx="11064240" cy="2057400"/>
        </p:xfrm>
        <a:graphic>
          <a:graphicData uri="http://schemas.openxmlformats.org/drawingml/2006/table">
            <a:tbl>
              <a:tblPr firstRow="1" bandRow="1">
                <a:tableStyleId>{5C22544A-7EE6-4342-B048-85BDC9FD1C3A}</a:tableStyleId>
              </a:tblPr>
              <a:tblGrid>
                <a:gridCol w="3474720"/>
                <a:gridCol w="7589520"/>
              </a:tblGrid>
              <a:tr h="685800">
                <a:tc>
                  <a:txBody>
                    <a:bodyPr/>
                    <a:lstStyle/>
                    <a:p>
                      <a:r>
                        <a:rPr sz="2200" b="1">
                          <a:solidFill>
                            <a:srgbClr val="FFFFFF"/>
                          </a:solidFill>
                          <a:latin typeface="Calibri"/>
                        </a:rPr>
                        <a:t>Topic label</a:t>
                      </a:r>
                    </a:p>
                  </a:txBody>
                  <a:tcPr anchor="ctr">
                    <a:solidFill>
                      <a:srgbClr val="173538"/>
                    </a:solidFill>
                  </a:tcPr>
                </a:tc>
                <a:tc>
                  <a:txBody>
                    <a:bodyPr/>
                    <a:lstStyle/>
                    <a:p>
                      <a:r>
                        <a:rPr sz="2200" b="1">
                          <a:solidFill>
                            <a:srgbClr val="FFFFFF"/>
                          </a:solidFill>
                          <a:latin typeface="Calibri"/>
                        </a:rPr>
                        <a:t>Assertion title</a:t>
                      </a:r>
                    </a:p>
                  </a:txBody>
                  <a:tcPr anchor="ctr">
                    <a:solidFill>
                      <a:srgbClr val="173538"/>
                    </a:solidFill>
                  </a:tcPr>
                </a:tc>
              </a:tr>
              <a:tr h="685800">
                <a:tc>
                  <a:txBody>
                    <a:bodyPr/>
                    <a:lstStyle/>
                    <a:p>
                      <a:r>
                        <a:rPr sz="2200" b="0">
                          <a:solidFill>
                            <a:srgbClr val="1F2328"/>
                          </a:solidFill>
                          <a:latin typeface="Calibri"/>
                        </a:rPr>
                        <a:t>Architecture</a:t>
                      </a:r>
                    </a:p>
                  </a:txBody>
                  <a:tcPr anchor="ctr">
                    <a:solidFill>
                      <a:srgbClr val="FFFFFF"/>
                    </a:solidFill>
                  </a:tcPr>
                </a:tc>
                <a:tc>
                  <a:txBody>
                    <a:bodyPr/>
                    <a:lstStyle/>
                    <a:p>
                      <a:r>
                        <a:rPr sz="2200" b="0">
                          <a:solidFill>
                            <a:srgbClr val="1F2328"/>
                          </a:solidFill>
                          <a:latin typeface="Calibri"/>
                        </a:rPr>
                        <a:t>Three services share one event queue</a:t>
                      </a:r>
                    </a:p>
                  </a:txBody>
                  <a:tcPr anchor="ctr">
                    <a:solidFill>
                      <a:srgbClr val="FFFFFF"/>
                    </a:solidFill>
                  </a:tcPr>
                </a:tc>
              </a:tr>
              <a:tr h="685800">
                <a:tc>
                  <a:txBody>
                    <a:bodyPr/>
                    <a:lstStyle/>
                    <a:p>
                      <a:r>
                        <a:rPr sz="2200" b="0">
                          <a:solidFill>
                            <a:srgbClr val="1F2328"/>
                          </a:solidFill>
                          <a:latin typeface="Calibri"/>
                        </a:rPr>
                        <a:t>Performance</a:t>
                      </a:r>
                    </a:p>
                  </a:txBody>
                  <a:tcPr anchor="ctr">
                    <a:solidFill>
                      <a:srgbClr val="F1F3F5"/>
                    </a:solidFill>
                  </a:tcPr>
                </a:tc>
                <a:tc>
                  <a:txBody>
                    <a:bodyPr/>
                    <a:lstStyle/>
                    <a:p>
                      <a:r>
                        <a:rPr sz="2200" b="0">
                          <a:solidFill>
                            <a:srgbClr val="1F2328"/>
                          </a:solidFill>
                          <a:latin typeface="Calibri"/>
                        </a:rPr>
                        <a:t>Ingest latency fell from 4 s to 300 ms</a:t>
                      </a:r>
                    </a:p>
                  </a:txBody>
                  <a:tcPr anchor="ctr">
                    <a:solidFill>
                      <a:srgbClr val="F1F3F5"/>
                    </a:solidFill>
                  </a:tcPr>
                </a:tc>
              </a:tr>
            </a:tbl>
          </a:graphicData>
        </a:graphic>
      </p:graphicFrame>
      <p:sp>
        <p:nvSpPr>
          <p:cNvPr id="9" name="TextBox 8"/>
          <p:cNvSpPr txBox="1"/>
          <p:nvPr/>
        </p:nvSpPr>
        <p:spPr>
          <a:xfrm>
            <a:off x="548640" y="6053328"/>
            <a:ext cx="10515600" cy="292608"/>
          </a:xfrm>
          <a:prstGeom prst="rect">
            <a:avLst/>
          </a:prstGeom>
          <a:noFill/>
        </p:spPr>
        <p:txBody>
          <a:bodyPr wrap="square" anchor="t" lIns="45720" rIns="45720" tIns="27432" bIns="27432">
            <a:spAutoFit/>
          </a:bodyPr>
          <a:lstStyle/>
          <a:p>
            <a:pPr algn="l">
              <a:lnSpc>
                <a:spcPct val="110000"/>
              </a:lnSpc>
              <a:spcAft>
                <a:spcPts val="600"/>
              </a:spcAft>
            </a:pPr>
            <a:r>
              <a:rPr sz="1200" b="0">
                <a:solidFill>
                  <a:srgbClr val="57606A"/>
                </a:solidFill>
                <a:latin typeface="Calibri"/>
              </a:rPr>
              <a:t>Source: reference/deck-style.md, section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Visual bans remove the tells of a generated deck</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10</a:t>
            </a:r>
          </a:p>
        </p:txBody>
      </p:sp>
      <p:sp>
        <p:nvSpPr>
          <p:cNvPr id="7" name="TextBox 6"/>
          <p:cNvSpPr txBox="1"/>
          <p:nvPr/>
        </p:nvSpPr>
        <p:spPr>
          <a:xfrm>
            <a:off x="548640" y="1691640"/>
            <a:ext cx="1078992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No eyebrow labels, badges or pills; the title is the topmost text</a:t>
            </a:r>
          </a:p>
          <a:p>
            <a:pPr algn="l" marL="201168" indent="-201168">
              <a:lnSpc>
                <a:spcPct val="110000"/>
              </a:lnSpc>
              <a:spcAft>
                <a:spcPts val="1200"/>
              </a:spcAft>
              <a:buChar char="•"/>
            </a:pPr>
            <a:r>
              <a:rPr sz="2200" b="0">
                <a:solidFill>
                  <a:srgbClr val="1F2328"/>
                </a:solidFill>
                <a:latin typeface="Calibri"/>
              </a:rPr>
              <a:t>No shadows, glows, gradients, rounded boxes or decorative accent bars</a:t>
            </a:r>
          </a:p>
          <a:p>
            <a:pPr algn="l" marL="201168" indent="-201168">
              <a:lnSpc>
                <a:spcPct val="110000"/>
              </a:lnSpc>
              <a:spcAft>
                <a:spcPts val="1200"/>
              </a:spcAft>
              <a:buChar char="•"/>
            </a:pPr>
            <a:r>
              <a:rPr sz="2200" b="0">
                <a:solidFill>
                  <a:srgbClr val="1F2328"/>
                </a:solidFill>
                <a:latin typeface="Calibri"/>
              </a:rPr>
              <a:t>No icon-card grids, stat-tile dashboards or page-counter chrome</a:t>
            </a:r>
          </a:p>
          <a:p>
            <a:pPr algn="l" marL="201168" indent="-201168">
              <a:lnSpc>
                <a:spcPct val="110000"/>
              </a:lnSpc>
              <a:spcAft>
                <a:spcPts val="1200"/>
              </a:spcAft>
              <a:buChar char="•"/>
            </a:pPr>
            <a:r>
              <a:rPr sz="2200" b="0">
                <a:solidFill>
                  <a:srgbClr val="1F2328"/>
                </a:solidFill>
                <a:latin typeface="Calibri"/>
              </a:rPr>
              <a:t>No purple or indigo palettes, no cream with terracotta and a serif</a:t>
            </a:r>
          </a:p>
          <a:p>
            <a:pPr algn="l" marL="201168" indent="-201168">
              <a:lnSpc>
                <a:spcPct val="110000"/>
              </a:lnSpc>
              <a:spcAft>
                <a:spcPts val="1200"/>
              </a:spcAft>
              <a:buChar char="•"/>
            </a:pPr>
            <a:r>
              <a:rPr sz="2200" b="0">
                <a:solidFill>
                  <a:srgbClr val="1F2328"/>
                </a:solidFill>
                <a:latin typeface="Calibri"/>
              </a:rPr>
              <a:t>One accent colour, one font family, native labelled charts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A linter and a render check gate delivery</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11</a:t>
            </a:r>
          </a:p>
        </p:txBody>
      </p:sp>
      <p:sp>
        <p:nvSpPr>
          <p:cNvPr id="7" name="TextBox 6"/>
          <p:cNvSpPr txBox="1"/>
          <p:nvPr/>
        </p:nvSpPr>
        <p:spPr>
          <a:xfrm>
            <a:off x="548640" y="1691640"/>
            <a:ext cx="475488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200" b="0">
                <a:solidFill>
                  <a:srgbClr val="1F2328"/>
                </a:solidFill>
                <a:latin typeface="Calibri"/>
              </a:rPr>
              <a:t>The linter checks banned words, em dashes, title case and length limits</a:t>
            </a:r>
          </a:p>
          <a:p>
            <a:pPr algn="l" marL="201168" indent="-201168">
              <a:lnSpc>
                <a:spcPct val="110000"/>
              </a:lnSpc>
              <a:spcAft>
                <a:spcPts val="1400"/>
              </a:spcAft>
              <a:buChar char="•"/>
            </a:pPr>
            <a:r>
              <a:rPr sz="2200" b="0">
                <a:solidFill>
                  <a:srgbClr val="1F2328"/>
                </a:solidFill>
                <a:latin typeface="Calibri"/>
              </a:rPr>
              <a:t>A deck with errors is not delivered</a:t>
            </a:r>
          </a:p>
          <a:p>
            <a:pPr algn="l" marL="201168" indent="-201168">
              <a:lnSpc>
                <a:spcPct val="110000"/>
              </a:lnSpc>
              <a:spcAft>
                <a:spcPts val="1400"/>
              </a:spcAft>
              <a:buChar char="•"/>
            </a:pPr>
            <a:r>
              <a:rPr sz="2200" b="0">
                <a:solidFill>
                  <a:srgbClr val="1F2328"/>
                </a:solidFill>
                <a:latin typeface="Calibri"/>
              </a:rPr>
              <a:t>Then the deck is rendered and every page is inspected</a:t>
            </a:r>
          </a:p>
        </p:txBody>
      </p:sp>
      <p:sp>
        <p:nvSpPr>
          <p:cNvPr id="8" name="Rectangle 7"/>
          <p:cNvSpPr/>
          <p:nvPr/>
        </p:nvSpPr>
        <p:spPr>
          <a:xfrm>
            <a:off x="5486400" y="2103120"/>
            <a:ext cx="6217920" cy="1280160"/>
          </a:xfrm>
          <a:prstGeom prst="rect">
            <a:avLst/>
          </a:prstGeom>
          <a:noFill/>
          <a:ln w="12700">
            <a:solidFill>
              <a:srgbClr val="57606A"/>
            </a:solidFill>
          </a:ln>
          <a:effectLst/>
        </p:spPr>
        <p:txBody>
          <a:bodyPr rtlCol="0" anchor="ctr" wrap="square" lIns="182880"/>
          <a:lstStyle/>
          <a:p>
            <a:pPr algn="l"/>
            <a:r>
              <a:rPr sz="1400">
                <a:solidFill>
                  <a:srgbClr val="1F2328"/>
                </a:solidFill>
                <a:latin typeface="Consolas"/>
              </a:rPr>
              <a:t>lint_deck.py deck.pptx --max-words 60</a:t>
            </a:r>
          </a:p>
          <a:p>
            <a:pPr algn="l"/>
            <a:r>
              <a:rPr sz="1400">
                <a:solidFill>
                  <a:srgbClr val="1F2328"/>
                </a:solidFill>
                <a:latin typeface="Consolas"/>
              </a:rPr>
              <a:t>0 error(s), 0 warning(s)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Your outline stays yours: the skill flags, you decide</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12</a:t>
            </a:r>
          </a:p>
        </p:txBody>
      </p:sp>
      <p:sp>
        <p:nvSpPr>
          <p:cNvPr id="7" name="TextBox 6"/>
          <p:cNvSpPr txBox="1"/>
          <p:nvPr/>
        </p:nvSpPr>
        <p:spPr>
          <a:xfrm>
            <a:off x="548640" y="1691640"/>
            <a:ext cx="5029200" cy="4480560"/>
          </a:xfrm>
          <a:prstGeom prst="rect">
            <a:avLst/>
          </a:prstGeom>
          <a:noFill/>
        </p:spPr>
        <p:txBody>
          <a:bodyPr wrap="square" anchor="t" lIns="45720" rIns="45720" tIns="27432" bIns="27432">
            <a:spAutoFit/>
          </a:bodyPr>
          <a:lstStyle/>
          <a:p>
            <a:pPr algn="l" marL="201168" indent="-201168">
              <a:lnSpc>
                <a:spcPct val="110000"/>
              </a:lnSpc>
              <a:spcAft>
                <a:spcPts val="1200"/>
              </a:spcAft>
              <a:buChar char="•"/>
            </a:pPr>
            <a:r>
              <a:rPr sz="2200" b="0">
                <a:solidFill>
                  <a:srgbClr val="1F2328"/>
                </a:solidFill>
                <a:latin typeface="Calibri"/>
              </a:rPr>
              <a:t>The skill lists every outline problem with a proposed fix</a:t>
            </a:r>
          </a:p>
          <a:p>
            <a:pPr algn="l" marL="201168" indent="-201168">
              <a:lnSpc>
                <a:spcPct val="110000"/>
              </a:lnSpc>
              <a:spcAft>
                <a:spcPts val="1200"/>
              </a:spcAft>
              <a:buChar char="•"/>
            </a:pPr>
            <a:r>
              <a:rPr sz="2200" b="0">
                <a:solidFill>
                  <a:srgbClr val="1F2328"/>
                </a:solidFill>
                <a:latin typeface="Calibri"/>
              </a:rPr>
              <a:t>You apply all, apply none, or choose per item</a:t>
            </a:r>
          </a:p>
          <a:p>
            <a:pPr algn="l" marL="201168" indent="-201168">
              <a:lnSpc>
                <a:spcPct val="110000"/>
              </a:lnSpc>
              <a:spcAft>
                <a:spcPts val="1200"/>
              </a:spcAft>
              <a:buChar char="•"/>
            </a:pPr>
            <a:r>
              <a:rPr sz="2200" b="0">
                <a:solidFill>
                  <a:srgbClr val="1F2328"/>
                </a:solidFill>
                <a:latin typeface="Calibri"/>
              </a:rPr>
              <a:t>Terms and spellings in the outline win over the vocabulary bans</a:t>
            </a:r>
          </a:p>
          <a:p>
            <a:pPr algn="l" marL="201168" indent="-201168">
              <a:lnSpc>
                <a:spcPct val="110000"/>
              </a:lnSpc>
              <a:spcAft>
                <a:spcPts val="1200"/>
              </a:spcAft>
              <a:buChar char="•"/>
            </a:pPr>
            <a:r>
              <a:rPr sz="2200" b="0">
                <a:solidFill>
                  <a:srgbClr val="1F2328"/>
                </a:solidFill>
                <a:latin typeface="Calibri"/>
              </a:rPr>
              <a:t>It never states a cause the outline's numbers do not support</a:t>
            </a:r>
          </a:p>
        </p:txBody>
      </p:sp>
      <p:sp>
        <p:nvSpPr>
          <p:cNvPr id="8" name="Rectangle 7"/>
          <p:cNvSpPr/>
          <p:nvPr/>
        </p:nvSpPr>
        <p:spPr>
          <a:xfrm>
            <a:off x="5943600" y="1691640"/>
            <a:ext cx="5669280" cy="4297680"/>
          </a:xfrm>
          <a:prstGeom prst="rect">
            <a:avLst/>
          </a:prstGeom>
          <a:noFill/>
          <a:ln w="12700">
            <a:solidFill>
              <a:srgbClr val="57606A"/>
            </a:solidFill>
          </a:ln>
          <a:effectLst/>
        </p:spPr>
        <p:txBody>
          <a:bodyPr rtlCol="0" anchor="ctr" wrap="square" lIns="137160" rIns="137160"/>
          <a:lstStyle/>
          <a:p>
            <a:pPr algn="ctr"/>
            <a:r>
              <a:rPr sz="1600">
                <a:solidFill>
                  <a:srgbClr val="57606A"/>
                </a:solidFill>
                <a:latin typeface="Calibri"/>
              </a:rPr>
              <a:t>[ DIAGRAM PLACEHOLDER ]</a:t>
            </a:r>
          </a:p>
          <a:p>
            <a:pPr algn="ctr"/>
            <a:r>
              <a:rPr sz="1400">
                <a:solidFill>
                  <a:srgbClr val="57606A"/>
                </a:solidFill>
                <a:latin typeface="Calibri"/>
              </a:rPr>
              <a:t>check the outline, propose fixes, you decide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Change one slide without touching the rest</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13</a:t>
            </a:r>
          </a:p>
        </p:txBody>
      </p:sp>
      <p:sp>
        <p:nvSpPr>
          <p:cNvPr id="7" name="TextBox 6"/>
          <p:cNvSpPr txBox="1"/>
          <p:nvPr/>
        </p:nvSpPr>
        <p:spPr>
          <a:xfrm>
            <a:off x="548640" y="1691640"/>
            <a:ext cx="466344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200" b="0">
                <a:solidFill>
                  <a:srgbClr val="1F2328"/>
                </a:solidFill>
                <a:latin typeface="Calibri"/>
              </a:rPr>
              <a:t>Say it plainly: redo slide 13, or add a slide after 12</a:t>
            </a:r>
          </a:p>
          <a:p>
            <a:pPr algn="l" marL="201168" indent="-201168">
              <a:lnSpc>
                <a:spcPct val="110000"/>
              </a:lnSpc>
              <a:spcAft>
                <a:spcPts val="1400"/>
              </a:spcAft>
              <a:buChar char="•"/>
            </a:pPr>
            <a:r>
              <a:rPr sz="2200" b="0">
                <a:solidFill>
                  <a:srgbClr val="1F2328"/>
                </a:solidFill>
                <a:latin typeface="Calibri"/>
              </a:rPr>
              <a:t>It edits the deck as it is now, manual changes included</a:t>
            </a:r>
          </a:p>
          <a:p>
            <a:pPr algn="l" marL="201168" indent="-201168">
              <a:lnSpc>
                <a:spcPct val="110000"/>
              </a:lnSpc>
              <a:spcAft>
                <a:spcPts val="1400"/>
              </a:spcAft>
              <a:buChar char="•"/>
            </a:pPr>
            <a:r>
              <a:rPr sz="2200" b="0">
                <a:solidFill>
                  <a:srgbClr val="1F2328"/>
                </a:solidFill>
                <a:latin typeface="Calibri"/>
              </a:rPr>
              <a:t>A before and after comparison proves the other slides are unchanged</a:t>
            </a:r>
          </a:p>
        </p:txBody>
      </p:sp>
      <p:sp>
        <p:nvSpPr>
          <p:cNvPr id="8" name="Rectangle 7"/>
          <p:cNvSpPr/>
          <p:nvPr/>
        </p:nvSpPr>
        <p:spPr>
          <a:xfrm>
            <a:off x="5394960" y="2011680"/>
            <a:ext cx="6309360" cy="1691640"/>
          </a:xfrm>
          <a:prstGeom prst="rect">
            <a:avLst/>
          </a:prstGeom>
          <a:noFill/>
          <a:ln w="12700">
            <a:solidFill>
              <a:srgbClr val="57606A"/>
            </a:solidFill>
          </a:ln>
          <a:effectLst/>
        </p:spPr>
        <p:txBody>
          <a:bodyPr rtlCol="0" anchor="ctr" wrap="square" lIns="182880"/>
          <a:lstStyle/>
          <a:p>
            <a:pPr algn="l"/>
            <a:r>
              <a:rPr sz="1400">
                <a:solidFill>
                  <a:srgbClr val="1F2328"/>
                </a:solidFill>
                <a:latin typeface="Consolas"/>
              </a:rPr>
              <a:t>slide_guard.py snapshot deck.pptx snap.json</a:t>
            </a:r>
          </a:p>
          <a:p>
            <a:pPr algn="l"/>
            <a:r>
              <a:rPr sz="1400">
                <a:solidFill>
                  <a:srgbClr val="1F2328"/>
                </a:solidFill>
                <a:latin typeface="Consolas"/>
              </a:rPr>
              <a:t>slide_guard.py compare deck.pptx snap.json --changed 13</a:t>
            </a:r>
          </a:p>
          <a:p>
            <a:pPr algn="l"/>
            <a:r>
              <a:rPr sz="1400">
                <a:solidFill>
                  <a:srgbClr val="1F2328"/>
                </a:solidFill>
                <a:latin typeface="Consolas"/>
              </a:rPr>
              <a:t>guard passed: 20 slides, only [13] changed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a:effectLst/>
        </p:spPr>
        <p:txBody>
          <a:bodyPr rtlCol="0" anchor="ctr"/>
          <a:lstStyle/>
          <a:p>
            <a:pPr algn="ctr"/>
          </a:p>
        </p:txBody>
      </p:sp>
      <p:sp>
        <p:nvSpPr>
          <p:cNvPr id="4" name="TextBox 3"/>
          <p:cNvSpPr txBox="1"/>
          <p:nvPr/>
        </p:nvSpPr>
        <p:spPr>
          <a:xfrm>
            <a:off x="548640" y="182880"/>
            <a:ext cx="11094415" cy="868680"/>
          </a:xfrm>
          <a:prstGeom prst="rect">
            <a:avLst/>
          </a:prstGeom>
          <a:noFill/>
        </p:spPr>
        <p:txBody>
          <a:bodyPr wrap="square" anchor="ctr" lIns="45720" rIns="45720" tIns="27432" bIns="27432">
            <a:spAutoFit/>
          </a:bodyPr>
          <a:lstStyle/>
          <a:p>
            <a:pPr algn="l">
              <a:lnSpc>
                <a:spcPct val="110000"/>
              </a:lnSpc>
              <a:spcAft>
                <a:spcPts val="600"/>
              </a:spcAft>
            </a:pPr>
            <a:r>
              <a:rPr sz="2800" b="1">
                <a:solidFill>
                  <a:srgbClr val="FFFFFF"/>
                </a:solidFill>
                <a:latin typeface="Calibri"/>
              </a:rPr>
              <a:t>Copy the folder, write an outline, ask for the deck</a:t>
            </a:r>
          </a:p>
        </p:txBody>
      </p:sp>
      <p:pic>
        <p:nvPicPr>
          <p:cNvPr id="5" name="Picture 4" descr="cslev_logo.png"/>
          <p:cNvPicPr>
            <a:picLocks noChangeAspect="1"/>
          </p:cNvPicPr>
          <p:nvPr/>
        </p:nvPicPr>
        <p:blipFill>
          <a:blip r:embed="rId2"/>
          <a:stretch>
            <a:fillRect/>
          </a:stretch>
        </p:blipFill>
        <p:spPr>
          <a:xfrm>
            <a:off x="548640" y="6510528"/>
            <a:ext cx="274320" cy="274320"/>
          </a:xfrm>
          <a:prstGeom prst="rect">
            <a:avLst/>
          </a:prstGeom>
        </p:spPr>
      </p:pic>
      <p:sp>
        <p:nvSpPr>
          <p:cNvPr id="6" name="TextBox 5"/>
          <p:cNvSpPr txBox="1"/>
          <p:nvPr/>
        </p:nvSpPr>
        <p:spPr>
          <a:xfrm>
            <a:off x="10728655" y="6492240"/>
            <a:ext cx="914400" cy="274320"/>
          </a:xfrm>
          <a:prstGeom prst="rect">
            <a:avLst/>
          </a:prstGeom>
          <a:noFill/>
        </p:spPr>
        <p:txBody>
          <a:bodyPr wrap="square" anchor="ctr" lIns="45720" rIns="45720" tIns="27432" bIns="27432">
            <a:spAutoFit/>
          </a:bodyPr>
          <a:lstStyle/>
          <a:p>
            <a:pPr algn="r">
              <a:lnSpc>
                <a:spcPct val="110000"/>
              </a:lnSpc>
              <a:spcAft>
                <a:spcPts val="600"/>
              </a:spcAft>
            </a:pPr>
            <a:r>
              <a:rPr sz="1100" b="0">
                <a:solidFill>
                  <a:srgbClr val="57606A"/>
                </a:solidFill>
                <a:latin typeface="Calibri"/>
              </a:rPr>
              <a:t>14</a:t>
            </a:r>
          </a:p>
        </p:txBody>
      </p:sp>
      <p:sp>
        <p:nvSpPr>
          <p:cNvPr id="7" name="TextBox 6"/>
          <p:cNvSpPr txBox="1"/>
          <p:nvPr/>
        </p:nvSpPr>
        <p:spPr>
          <a:xfrm>
            <a:off x="548640" y="1691640"/>
            <a:ext cx="6766560" cy="4480560"/>
          </a:xfrm>
          <a:prstGeom prst="rect">
            <a:avLst/>
          </a:prstGeom>
          <a:noFill/>
        </p:spPr>
        <p:txBody>
          <a:bodyPr wrap="square" anchor="t" lIns="45720" rIns="45720" tIns="27432" bIns="27432">
            <a:spAutoFit/>
          </a:bodyPr>
          <a:lstStyle/>
          <a:p>
            <a:pPr algn="l" marL="201168" indent="-201168">
              <a:lnSpc>
                <a:spcPct val="110000"/>
              </a:lnSpc>
              <a:spcAft>
                <a:spcPts val="1400"/>
              </a:spcAft>
              <a:buChar char="•"/>
            </a:pPr>
            <a:r>
              <a:rPr sz="2200" b="0">
                <a:solidFill>
                  <a:srgbClr val="1F2328"/>
                </a:solidFill>
                <a:latin typeface="Calibri"/>
              </a:rPr>
              <a:t>Copy skills/pitch-deck into .claude/skills in a project, or into your home .claude/skills</a:t>
            </a:r>
          </a:p>
          <a:p>
            <a:pPr algn="l" marL="201168" indent="-201168">
              <a:lnSpc>
                <a:spcPct val="110000"/>
              </a:lnSpc>
              <a:spcAft>
                <a:spcPts val="1400"/>
              </a:spcAft>
              <a:buChar char="•"/>
            </a:pPr>
            <a:r>
              <a:rPr sz="2200" b="0">
                <a:solidFill>
                  <a:srgbClr val="1F2328"/>
                </a:solidFill>
                <a:latin typeface="Calibri"/>
              </a:rPr>
              <a:t>Put your template and logo in the project's decks folder</a:t>
            </a:r>
          </a:p>
          <a:p>
            <a:pPr algn="l" marL="201168" indent="-201168">
              <a:lnSpc>
                <a:spcPct val="110000"/>
              </a:lnSpc>
              <a:spcAft>
                <a:spcPts val="1400"/>
              </a:spcAft>
              <a:buChar char="•"/>
            </a:pPr>
            <a:r>
              <a:rPr sz="2200" b="0">
                <a:solidFill>
                  <a:srgbClr val="1F2328"/>
                </a:solidFill>
                <a:latin typeface="Calibri"/>
              </a:rPr>
              <a:t>Write outline.md from the skill's template, then ask for the deck</a:t>
            </a:r>
          </a:p>
        </p:txBody>
      </p:sp>
      <p:sp>
        <p:nvSpPr>
          <p:cNvPr id="8" name="Rectangle 7"/>
          <p:cNvSpPr/>
          <p:nvPr/>
        </p:nvSpPr>
        <p:spPr>
          <a:xfrm>
            <a:off x="8138160" y="1828800"/>
            <a:ext cx="3474720" cy="3474720"/>
          </a:xfrm>
          <a:prstGeom prst="rect">
            <a:avLst/>
          </a:prstGeom>
          <a:noFill/>
          <a:ln w="12700">
            <a:solidFill>
              <a:srgbClr val="57606A"/>
            </a:solidFill>
          </a:ln>
          <a:effectLst/>
        </p:spPr>
        <p:txBody>
          <a:bodyPr rtlCol="0" anchor="ctr" wrap="square" lIns="137160" rIns="137160"/>
          <a:lstStyle/>
          <a:p>
            <a:pPr algn="ctr"/>
            <a:r>
              <a:rPr sz="1600">
                <a:solidFill>
                  <a:srgbClr val="57606A"/>
                </a:solidFill>
                <a:latin typeface="Calibri"/>
              </a:rPr>
              <a:t>[ QR ]</a:t>
            </a:r>
          </a:p>
          <a:p>
            <a:pPr algn="ctr"/>
            <a:r>
              <a:rPr sz="1400">
                <a:solidFill>
                  <a:srgbClr val="57606A"/>
                </a:solidFill>
                <a:latin typeface="Calibri"/>
              </a:rPr>
              <a:t>github.com/cslev/skillet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822960" y="2606040"/>
            <a:ext cx="7253935" cy="1280160"/>
          </a:xfrm>
          <a:prstGeom prst="rect">
            <a:avLst/>
          </a:prstGeom>
          <a:noFill/>
        </p:spPr>
        <p:txBody>
          <a:bodyPr wrap="square" anchor="t" lIns="45720" rIns="45720" tIns="27432" bIns="27432">
            <a:spAutoFit/>
          </a:bodyPr>
          <a:lstStyle/>
          <a:p>
            <a:pPr algn="l">
              <a:lnSpc>
                <a:spcPct val="110000"/>
              </a:lnSpc>
              <a:spcAft>
                <a:spcPts val="600"/>
              </a:spcAft>
            </a:pPr>
            <a:r>
              <a:rPr sz="5600" b="1">
                <a:solidFill>
                  <a:srgbClr val="FFFFFF"/>
                </a:solidFill>
                <a:latin typeface="Calibri"/>
              </a:rPr>
              <a:t>Thank you</a:t>
            </a:r>
          </a:p>
        </p:txBody>
      </p:sp>
      <p:pic>
        <p:nvPicPr>
          <p:cNvPr id="3" name="Picture 2" descr="handshake.png"/>
          <p:cNvPicPr>
            <a:picLocks noChangeAspect="1"/>
          </p:cNvPicPr>
          <p:nvPr/>
        </p:nvPicPr>
        <p:blipFill>
          <a:blip r:embed="rId2"/>
          <a:stretch>
            <a:fillRect/>
          </a:stretch>
        </p:blipFill>
        <p:spPr>
          <a:xfrm>
            <a:off x="8703579" y="2057400"/>
            <a:ext cx="2404231" cy="21945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